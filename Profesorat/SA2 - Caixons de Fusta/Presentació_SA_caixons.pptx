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82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98247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E8B4E"/>
          </a:solidFill>
          <a:ln/>
        </p:spPr>
        <p:txBody>
          <a:bodyPr/>
          <a:lstStyle/>
          <a:p>
            <a:endParaRPr lang="ca-ES"/>
          </a:p>
        </p:txBody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ca-ES"/>
          </a:p>
        </p:txBody>
      </p:sp>
      <p:sp>
        <p:nvSpPr>
          <p:cNvPr id="5" name="Shape 2"/>
          <p:cNvSpPr/>
          <p:nvPr/>
        </p:nvSpPr>
        <p:spPr>
          <a:xfrm>
            <a:off x="502920" y="640080"/>
            <a:ext cx="2560320" cy="292608"/>
          </a:xfrm>
          <a:prstGeom prst="rect">
            <a:avLst/>
          </a:prstGeom>
          <a:solidFill>
            <a:srgbClr val="4E8B4E"/>
          </a:solidFill>
          <a:ln w="12700">
            <a:solidFill>
              <a:srgbClr val="4E8B4E"/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6" name="Text 3"/>
          <p:cNvSpPr/>
          <p:nvPr/>
        </p:nvSpPr>
        <p:spPr>
          <a:xfrm>
            <a:off x="502920" y="6400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FFFFFF"/>
                </a:solidFill>
              </a:rPr>
              <a:t>TECNOLOGIA · 4t ESO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384048" y="114300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Caixons de Fusta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384048" y="187452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6AA8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Reciclada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384048" y="269748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A5C8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a l'Hort Escolar Automatitzat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84048" y="3520440"/>
            <a:ext cx="1298448" cy="329184"/>
          </a:xfrm>
          <a:prstGeom prst="rect">
            <a:avLst/>
          </a:prstGeom>
          <a:solidFill>
            <a:srgbClr val="2C5F2D"/>
          </a:solidFill>
          <a:ln w="12700">
            <a:solidFill>
              <a:srgbClr val="6AA86A"/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11" name="Text 8"/>
          <p:cNvSpPr/>
          <p:nvPr/>
        </p:nvSpPr>
        <p:spPr>
          <a:xfrm>
            <a:off x="384048" y="3520440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♻️ Economia Circular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1773936" y="3520440"/>
            <a:ext cx="1298448" cy="329184"/>
          </a:xfrm>
          <a:prstGeom prst="rect">
            <a:avLst/>
          </a:prstGeom>
          <a:solidFill>
            <a:srgbClr val="2C5F2D"/>
          </a:solidFill>
          <a:ln w="12700">
            <a:solidFill>
              <a:srgbClr val="6AA86A"/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13" name="Text 10"/>
          <p:cNvSpPr/>
          <p:nvPr/>
        </p:nvSpPr>
        <p:spPr>
          <a:xfrm>
            <a:off x="1773936" y="3520440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🌱 </a:t>
            </a:r>
            <a:r>
              <a:rPr lang="en-US" sz="1000" dirty="0" err="1">
                <a:solidFill>
                  <a:srgbClr val="FFFFFF"/>
                </a:solidFill>
              </a:rPr>
              <a:t>Sostenibilitat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163824" y="3520440"/>
            <a:ext cx="1298448" cy="329184"/>
          </a:xfrm>
          <a:prstGeom prst="rect">
            <a:avLst/>
          </a:prstGeom>
          <a:solidFill>
            <a:srgbClr val="2C5F2D"/>
          </a:solidFill>
          <a:ln w="12700">
            <a:solidFill>
              <a:srgbClr val="6AA86A"/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15" name="Text 12"/>
          <p:cNvSpPr/>
          <p:nvPr/>
        </p:nvSpPr>
        <p:spPr>
          <a:xfrm>
            <a:off x="3163824" y="3520440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🔧 Fusteria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553712" y="3520440"/>
            <a:ext cx="1298448" cy="329184"/>
          </a:xfrm>
          <a:prstGeom prst="rect">
            <a:avLst/>
          </a:prstGeom>
          <a:solidFill>
            <a:srgbClr val="2C5F2D"/>
          </a:solidFill>
          <a:ln w="12700">
            <a:solidFill>
              <a:srgbClr val="6AA86A"/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17" name="Text 14"/>
          <p:cNvSpPr/>
          <p:nvPr/>
        </p:nvSpPr>
        <p:spPr>
          <a:xfrm>
            <a:off x="4553712" y="3520440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🤖 Sensors IoT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ca-ES"/>
          </a:p>
        </p:txBody>
      </p:sp>
      <p:sp>
        <p:nvSpPr>
          <p:cNvPr id="19" name="Text 16"/>
          <p:cNvSpPr/>
          <p:nvPr/>
        </p:nvSpPr>
        <p:spPr>
          <a:xfrm>
            <a:off x="384048" y="480060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a-ES" sz="900" noProof="0">
                <a:solidFill>
                  <a:srgbClr val="C8E6C9"/>
                </a:solidFill>
              </a:rPr>
              <a:t>Situació d'Aprenentatge: Construcció dels caixons · Curs 2024-2025  |  12 sessions</a:t>
            </a:r>
            <a:endParaRPr lang="ca-ES" sz="900" noProof="0"/>
          </a:p>
        </p:txBody>
      </p:sp>
      <p:pic>
        <p:nvPicPr>
          <p:cNvPr id="22" name="Imatge 21">
            <a:extLst>
              <a:ext uri="{FF2B5EF4-FFF2-40B4-BE49-F238E27FC236}">
                <a16:creationId xmlns:a16="http://schemas.microsoft.com/office/drawing/2014/main" id="{79DD55B0-9B75-C452-6111-3C17561E8D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155642" y="885829"/>
            <a:ext cx="3803196" cy="254041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B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ca-E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 què fem caixons de fusta reciclada?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56032" y="1078992"/>
            <a:ext cx="2743200" cy="16642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sp>
        <p:nvSpPr>
          <p:cNvPr id="5" name="Shape 3"/>
          <p:cNvSpPr/>
          <p:nvPr/>
        </p:nvSpPr>
        <p:spPr>
          <a:xfrm>
            <a:off x="256032" y="1078992"/>
            <a:ext cx="54864" cy="1664208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ca-ES"/>
          </a:p>
        </p:txBody>
      </p:sp>
      <p:sp>
        <p:nvSpPr>
          <p:cNvPr id="6" name="Shape 4"/>
          <p:cNvSpPr/>
          <p:nvPr/>
        </p:nvSpPr>
        <p:spPr>
          <a:xfrm>
            <a:off x="384048" y="1243584"/>
            <a:ext cx="402336" cy="402336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ca-E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" y="1271016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1225296"/>
            <a:ext cx="2066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7474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Economia Circular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384048" y="1678971"/>
            <a:ext cx="25420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1200" dirty="0">
                <a:solidFill>
                  <a:srgbClr val="78909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Palets i mobles en desús es transformen en recipients funcionals per a l'hort. Cost de fusta: 0€.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3136392" y="1078992"/>
            <a:ext cx="2743200" cy="16642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sp>
        <p:nvSpPr>
          <p:cNvPr id="11" name="Shape 8"/>
          <p:cNvSpPr/>
          <p:nvPr/>
        </p:nvSpPr>
        <p:spPr>
          <a:xfrm>
            <a:off x="3136392" y="1078992"/>
            <a:ext cx="54864" cy="1664208"/>
          </a:xfrm>
          <a:prstGeom prst="rect">
            <a:avLst/>
          </a:prstGeom>
          <a:solidFill>
            <a:srgbClr val="4E8B4E"/>
          </a:solidFill>
          <a:ln/>
        </p:spPr>
        <p:txBody>
          <a:bodyPr/>
          <a:lstStyle/>
          <a:p>
            <a:endParaRPr lang="ca-ES"/>
          </a:p>
        </p:txBody>
      </p:sp>
      <p:sp>
        <p:nvSpPr>
          <p:cNvPr id="12" name="Shape 9"/>
          <p:cNvSpPr/>
          <p:nvPr/>
        </p:nvSpPr>
        <p:spPr>
          <a:xfrm>
            <a:off x="3264408" y="1243584"/>
            <a:ext cx="402336" cy="402336"/>
          </a:xfrm>
          <a:prstGeom prst="rect">
            <a:avLst/>
          </a:prstGeom>
          <a:solidFill>
            <a:srgbClr val="4E8B4E"/>
          </a:solidFill>
          <a:ln/>
        </p:spPr>
        <p:txBody>
          <a:bodyPr/>
          <a:lstStyle/>
          <a:p>
            <a:endParaRPr lang="ca-E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0984" y="1271016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758184" y="1225296"/>
            <a:ext cx="2066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 err="1">
                <a:solidFill>
                  <a:srgbClr val="37474F"/>
                </a:solidFill>
                <a:latin typeface="Aptos" panose="020B0004020202020204" pitchFamily="34" charset="0"/>
                <a:cs typeface="Calibri" pitchFamily="34" charset="-120"/>
              </a:rPr>
              <a:t>Connexió</a:t>
            </a:r>
            <a:r>
              <a:rPr lang="en-US" sz="1400" b="1" dirty="0">
                <a:solidFill>
                  <a:srgbClr val="37474F"/>
                </a:solidFill>
                <a:latin typeface="Aptos" panose="020B0004020202020204" pitchFamily="34" charset="0"/>
                <a:cs typeface="Calibri" pitchFamily="34" charset="-120"/>
              </a:rPr>
              <a:t> Natura</a:t>
            </a:r>
          </a:p>
        </p:txBody>
      </p:sp>
      <p:sp>
        <p:nvSpPr>
          <p:cNvPr id="15" name="Text 11"/>
          <p:cNvSpPr/>
          <p:nvPr/>
        </p:nvSpPr>
        <p:spPr>
          <a:xfrm>
            <a:off x="3264408" y="1678971"/>
            <a:ext cx="25420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/>
            <a:r>
              <a:rPr lang="en-US" sz="1200" dirty="0">
                <a:solidFill>
                  <a:srgbClr val="78909C"/>
                </a:solidFill>
                <a:latin typeface="Aptos" panose="020B0004020202020204" pitchFamily="34" charset="0"/>
                <a:cs typeface="Calibri" pitchFamily="34" charset="-120"/>
              </a:rPr>
              <a:t>Cada grup construeix el recipient on creixeran les seues plantes al llarg de tot el curs.</a:t>
            </a:r>
          </a:p>
        </p:txBody>
      </p:sp>
      <p:sp>
        <p:nvSpPr>
          <p:cNvPr id="16" name="Shape 12"/>
          <p:cNvSpPr/>
          <p:nvPr/>
        </p:nvSpPr>
        <p:spPr>
          <a:xfrm>
            <a:off x="6016752" y="1078992"/>
            <a:ext cx="2743200" cy="16642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sp>
        <p:nvSpPr>
          <p:cNvPr id="17" name="Shape 13"/>
          <p:cNvSpPr/>
          <p:nvPr/>
        </p:nvSpPr>
        <p:spPr>
          <a:xfrm>
            <a:off x="6016752" y="1078992"/>
            <a:ext cx="54864" cy="1664208"/>
          </a:xfrm>
          <a:prstGeom prst="rect">
            <a:avLst/>
          </a:prstGeom>
          <a:solidFill>
            <a:srgbClr val="5D4037"/>
          </a:solidFill>
          <a:ln/>
        </p:spPr>
        <p:txBody>
          <a:bodyPr/>
          <a:lstStyle/>
          <a:p>
            <a:endParaRPr lang="ca-ES"/>
          </a:p>
        </p:txBody>
      </p:sp>
      <p:sp>
        <p:nvSpPr>
          <p:cNvPr id="18" name="Shape 14"/>
          <p:cNvSpPr/>
          <p:nvPr/>
        </p:nvSpPr>
        <p:spPr>
          <a:xfrm>
            <a:off x="6144768" y="1243584"/>
            <a:ext cx="402336" cy="402336"/>
          </a:xfrm>
          <a:prstGeom prst="rect">
            <a:avLst/>
          </a:prstGeom>
          <a:solidFill>
            <a:srgbClr val="5D4037"/>
          </a:solidFill>
          <a:ln/>
        </p:spPr>
        <p:txBody>
          <a:bodyPr/>
          <a:lstStyle/>
          <a:p>
            <a:endParaRPr lang="ca-E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1344" y="1271016"/>
            <a:ext cx="329184" cy="32918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638544" y="1225296"/>
            <a:ext cx="2066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37474F"/>
                </a:solidFill>
                <a:latin typeface="Aptos" panose="020B0004020202020204" pitchFamily="34" charset="0"/>
                <a:cs typeface="Calibri" pitchFamily="34" charset="-120"/>
              </a:rPr>
              <a:t>Preparats per a Tec</a:t>
            </a:r>
          </a:p>
        </p:txBody>
      </p:sp>
      <p:sp>
        <p:nvSpPr>
          <p:cNvPr id="21" name="Text 16"/>
          <p:cNvSpPr/>
          <p:nvPr/>
        </p:nvSpPr>
        <p:spPr>
          <a:xfrm>
            <a:off x="6144768" y="1678971"/>
            <a:ext cx="25420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/>
            <a:r>
              <a:rPr lang="en-US" sz="1200" dirty="0">
                <a:solidFill>
                  <a:srgbClr val="78909C"/>
                </a:solidFill>
                <a:latin typeface="Aptos" panose="020B0004020202020204" pitchFamily="34" charset="0"/>
                <a:cs typeface="Calibri" pitchFamily="34" charset="-120"/>
              </a:rPr>
              <a:t>Cada caixó incorpora passacables per a sensors d'humitat i reg per degoteig des del </a:t>
            </a:r>
            <a:r>
              <a:rPr lang="en-US" sz="1200" dirty="0" err="1">
                <a:solidFill>
                  <a:srgbClr val="78909C"/>
                </a:solidFill>
                <a:latin typeface="Aptos" panose="020B0004020202020204" pitchFamily="34" charset="0"/>
                <a:cs typeface="Calibri" pitchFamily="34" charset="-120"/>
              </a:rPr>
              <a:t>principi</a:t>
            </a:r>
            <a:r>
              <a:rPr lang="en-US" sz="1200" dirty="0">
                <a:solidFill>
                  <a:srgbClr val="78909C"/>
                </a:solidFill>
                <a:latin typeface="Aptos" panose="020B0004020202020204" pitchFamily="34" charset="0"/>
                <a:cs typeface="Calibri" pitchFamily="34" charset="-120"/>
              </a:rPr>
              <a:t>.</a:t>
            </a:r>
          </a:p>
        </p:txBody>
      </p:sp>
      <p:sp>
        <p:nvSpPr>
          <p:cNvPr id="22" name="Shape 17"/>
          <p:cNvSpPr/>
          <p:nvPr/>
        </p:nvSpPr>
        <p:spPr>
          <a:xfrm>
            <a:off x="256032" y="2907792"/>
            <a:ext cx="2743200" cy="16642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sp>
        <p:nvSpPr>
          <p:cNvPr id="23" name="Shape 18"/>
          <p:cNvSpPr/>
          <p:nvPr/>
        </p:nvSpPr>
        <p:spPr>
          <a:xfrm>
            <a:off x="256032" y="2907792"/>
            <a:ext cx="54864" cy="1664208"/>
          </a:xfrm>
          <a:prstGeom prst="rect">
            <a:avLst/>
          </a:prstGeom>
          <a:solidFill>
            <a:srgbClr val="E8A020"/>
          </a:solidFill>
          <a:ln/>
        </p:spPr>
        <p:txBody>
          <a:bodyPr/>
          <a:lstStyle/>
          <a:p>
            <a:endParaRPr lang="ca-ES"/>
          </a:p>
        </p:txBody>
      </p:sp>
      <p:sp>
        <p:nvSpPr>
          <p:cNvPr id="24" name="Shape 19"/>
          <p:cNvSpPr/>
          <p:nvPr/>
        </p:nvSpPr>
        <p:spPr>
          <a:xfrm>
            <a:off x="384048" y="3072384"/>
            <a:ext cx="402336" cy="402336"/>
          </a:xfrm>
          <a:prstGeom prst="rect">
            <a:avLst/>
          </a:prstGeom>
          <a:solidFill>
            <a:srgbClr val="E8A020"/>
          </a:solidFill>
          <a:ln/>
        </p:spPr>
        <p:txBody>
          <a:bodyPr/>
          <a:lstStyle/>
          <a:p>
            <a:endParaRPr lang="ca-E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624" y="3099816"/>
            <a:ext cx="329184" cy="32918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877824" y="3054096"/>
            <a:ext cx="2066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 err="1">
                <a:solidFill>
                  <a:srgbClr val="37474F"/>
                </a:solidFill>
                <a:latin typeface="Aptos" panose="020B0004020202020204" pitchFamily="34" charset="0"/>
                <a:cs typeface="Calibri" pitchFamily="34" charset="-120"/>
              </a:rPr>
              <a:t>Aprendre</a:t>
            </a:r>
            <a:r>
              <a:rPr lang="en-US" sz="1400" b="1" dirty="0">
                <a:solidFill>
                  <a:srgbClr val="37474F"/>
                </a:solidFill>
                <a:latin typeface="Aptos" panose="020B0004020202020204" pitchFamily="34" charset="0"/>
                <a:cs typeface="Calibri" pitchFamily="34" charset="-120"/>
              </a:rPr>
              <a:t> Fent</a:t>
            </a:r>
          </a:p>
        </p:txBody>
      </p:sp>
      <p:sp>
        <p:nvSpPr>
          <p:cNvPr id="27" name="Text 21"/>
          <p:cNvSpPr/>
          <p:nvPr/>
        </p:nvSpPr>
        <p:spPr>
          <a:xfrm>
            <a:off x="384048" y="3507771"/>
            <a:ext cx="25420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/>
            <a:r>
              <a:rPr lang="en-US" sz="1200" dirty="0">
                <a:solidFill>
                  <a:srgbClr val="78909C"/>
                </a:solidFill>
                <a:latin typeface="Aptos" panose="020B0004020202020204" pitchFamily="34" charset="0"/>
                <a:cs typeface="Calibri" pitchFamily="34" charset="-120"/>
              </a:rPr>
              <a:t>Dissenyar, mesurar, tallar, unir... competències reals de fusteria i gestió de </a:t>
            </a:r>
            <a:r>
              <a:rPr lang="en-US" sz="1200" dirty="0" err="1">
                <a:solidFill>
                  <a:srgbClr val="78909C"/>
                </a:solidFill>
                <a:latin typeface="Aptos" panose="020B0004020202020204" pitchFamily="34" charset="0"/>
                <a:cs typeface="Calibri" pitchFamily="34" charset="-120"/>
              </a:rPr>
              <a:t>projectes</a:t>
            </a:r>
            <a:r>
              <a:rPr lang="en-US" sz="1200" dirty="0">
                <a:solidFill>
                  <a:srgbClr val="78909C"/>
                </a:solidFill>
                <a:latin typeface="Aptos" panose="020B0004020202020204" pitchFamily="34" charset="0"/>
                <a:cs typeface="Calibri" pitchFamily="34" charset="-120"/>
              </a:rPr>
              <a:t>.</a:t>
            </a:r>
          </a:p>
        </p:txBody>
      </p:sp>
      <p:sp>
        <p:nvSpPr>
          <p:cNvPr id="28" name="Shape 22"/>
          <p:cNvSpPr/>
          <p:nvPr/>
        </p:nvSpPr>
        <p:spPr>
          <a:xfrm>
            <a:off x="3136392" y="2907792"/>
            <a:ext cx="2743200" cy="16642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sp>
        <p:nvSpPr>
          <p:cNvPr id="29" name="Shape 23"/>
          <p:cNvSpPr/>
          <p:nvPr/>
        </p:nvSpPr>
        <p:spPr>
          <a:xfrm>
            <a:off x="3136392" y="2907792"/>
            <a:ext cx="54864" cy="1664208"/>
          </a:xfrm>
          <a:prstGeom prst="rect">
            <a:avLst/>
          </a:prstGeom>
          <a:solidFill>
            <a:srgbClr val="28828F"/>
          </a:solidFill>
          <a:ln/>
        </p:spPr>
        <p:txBody>
          <a:bodyPr/>
          <a:lstStyle/>
          <a:p>
            <a:endParaRPr lang="ca-ES"/>
          </a:p>
        </p:txBody>
      </p:sp>
      <p:sp>
        <p:nvSpPr>
          <p:cNvPr id="30" name="Shape 24"/>
          <p:cNvSpPr/>
          <p:nvPr/>
        </p:nvSpPr>
        <p:spPr>
          <a:xfrm>
            <a:off x="3264408" y="3072384"/>
            <a:ext cx="402336" cy="402336"/>
          </a:xfrm>
          <a:prstGeom prst="rect">
            <a:avLst/>
          </a:prstGeom>
          <a:solidFill>
            <a:srgbClr val="28828F"/>
          </a:solidFill>
          <a:ln/>
        </p:spPr>
        <p:txBody>
          <a:bodyPr/>
          <a:lstStyle/>
          <a:p>
            <a:endParaRPr lang="ca-ES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00984" y="3099816"/>
            <a:ext cx="329184" cy="329184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3758184" y="3054096"/>
            <a:ext cx="2066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 err="1">
                <a:solidFill>
                  <a:srgbClr val="37474F"/>
                </a:solidFill>
                <a:latin typeface="Aptos" panose="020B0004020202020204" pitchFamily="34" charset="0"/>
                <a:cs typeface="Calibri" pitchFamily="34" charset="-120"/>
              </a:rPr>
              <a:t>Interdisciplinar</a:t>
            </a:r>
            <a:endParaRPr lang="en-US" sz="1400" b="1" dirty="0">
              <a:solidFill>
                <a:srgbClr val="37474F"/>
              </a:solidFill>
              <a:latin typeface="Aptos" panose="020B0004020202020204" pitchFamily="34" charset="0"/>
              <a:cs typeface="Calibri" pitchFamily="34" charset="-120"/>
            </a:endParaRPr>
          </a:p>
        </p:txBody>
      </p:sp>
      <p:sp>
        <p:nvSpPr>
          <p:cNvPr id="33" name="Text 26"/>
          <p:cNvSpPr/>
          <p:nvPr/>
        </p:nvSpPr>
        <p:spPr>
          <a:xfrm>
            <a:off x="3264408" y="3507771"/>
            <a:ext cx="25420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/>
            <a:r>
              <a:rPr lang="en-US" sz="1200" dirty="0">
                <a:solidFill>
                  <a:srgbClr val="78909C"/>
                </a:solidFill>
                <a:latin typeface="Aptos" panose="020B0004020202020204" pitchFamily="34" charset="0"/>
                <a:cs typeface="Calibri" pitchFamily="34" charset="-120"/>
              </a:rPr>
              <a:t>Matemàtiques (mesures), Biologia (compost), Dibuix Tècnic (plànols), Llengua (</a:t>
            </a:r>
            <a:r>
              <a:rPr lang="en-US" sz="1200" dirty="0" err="1">
                <a:solidFill>
                  <a:srgbClr val="78909C"/>
                </a:solidFill>
                <a:latin typeface="Aptos" panose="020B0004020202020204" pitchFamily="34" charset="0"/>
                <a:cs typeface="Calibri" pitchFamily="34" charset="-120"/>
              </a:rPr>
              <a:t>memòria</a:t>
            </a:r>
            <a:r>
              <a:rPr lang="en-US" sz="1200" dirty="0">
                <a:solidFill>
                  <a:srgbClr val="78909C"/>
                </a:solidFill>
                <a:latin typeface="Aptos" panose="020B0004020202020204" pitchFamily="34" charset="0"/>
                <a:cs typeface="Calibri" pitchFamily="34" charset="-120"/>
              </a:rPr>
              <a:t>).</a:t>
            </a:r>
          </a:p>
        </p:txBody>
      </p:sp>
      <p:sp>
        <p:nvSpPr>
          <p:cNvPr id="34" name="Shape 27"/>
          <p:cNvSpPr/>
          <p:nvPr/>
        </p:nvSpPr>
        <p:spPr>
          <a:xfrm>
            <a:off x="6016752" y="2907792"/>
            <a:ext cx="2743200" cy="16642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sp>
        <p:nvSpPr>
          <p:cNvPr id="35" name="Shape 28"/>
          <p:cNvSpPr/>
          <p:nvPr/>
        </p:nvSpPr>
        <p:spPr>
          <a:xfrm>
            <a:off x="6016752" y="2907792"/>
            <a:ext cx="54864" cy="1664208"/>
          </a:xfrm>
          <a:prstGeom prst="rect">
            <a:avLst/>
          </a:prstGeom>
          <a:solidFill>
            <a:srgbClr val="7B5EA7"/>
          </a:solidFill>
          <a:ln/>
        </p:spPr>
        <p:txBody>
          <a:bodyPr/>
          <a:lstStyle/>
          <a:p>
            <a:endParaRPr lang="ca-ES"/>
          </a:p>
        </p:txBody>
      </p:sp>
      <p:sp>
        <p:nvSpPr>
          <p:cNvPr id="36" name="Shape 29"/>
          <p:cNvSpPr/>
          <p:nvPr/>
        </p:nvSpPr>
        <p:spPr>
          <a:xfrm>
            <a:off x="6144768" y="3072384"/>
            <a:ext cx="402336" cy="402336"/>
          </a:xfrm>
          <a:prstGeom prst="rect">
            <a:avLst/>
          </a:prstGeom>
          <a:solidFill>
            <a:srgbClr val="7B5EA7"/>
          </a:solidFill>
          <a:ln/>
        </p:spPr>
        <p:txBody>
          <a:bodyPr/>
          <a:lstStyle/>
          <a:p>
            <a:endParaRPr lang="ca-ES"/>
          </a:p>
        </p:txBody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81344" y="3099816"/>
            <a:ext cx="329184" cy="329184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6638544" y="3054096"/>
            <a:ext cx="2066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37474F"/>
                </a:solidFill>
                <a:latin typeface="Aptos" panose="020B0004020202020204" pitchFamily="34" charset="0"/>
                <a:cs typeface="Calibri" pitchFamily="34" charset="-120"/>
              </a:rPr>
              <a:t>ODS 12 </a:t>
            </a:r>
            <a:r>
              <a:rPr lang="en-US" sz="1400" b="1" dirty="0" err="1">
                <a:solidFill>
                  <a:srgbClr val="37474F"/>
                </a:solidFill>
                <a:latin typeface="Aptos" panose="020B0004020202020204" pitchFamily="34" charset="0"/>
                <a:cs typeface="Calibri" pitchFamily="34" charset="-120"/>
              </a:rPr>
              <a:t>i</a:t>
            </a:r>
            <a:r>
              <a:rPr lang="en-US" sz="1400" b="1" dirty="0">
                <a:solidFill>
                  <a:srgbClr val="37474F"/>
                </a:solidFill>
                <a:latin typeface="Aptos" panose="020B0004020202020204" pitchFamily="34" charset="0"/>
                <a:cs typeface="Calibri" pitchFamily="34" charset="-120"/>
              </a:rPr>
              <a:t> 13</a:t>
            </a:r>
          </a:p>
        </p:txBody>
      </p:sp>
      <p:sp>
        <p:nvSpPr>
          <p:cNvPr id="39" name="Text 31"/>
          <p:cNvSpPr/>
          <p:nvPr/>
        </p:nvSpPr>
        <p:spPr>
          <a:xfrm>
            <a:off x="6144768" y="3507771"/>
            <a:ext cx="25420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/>
            <a:r>
              <a:rPr lang="en-US" sz="1200" dirty="0">
                <a:solidFill>
                  <a:srgbClr val="78909C"/>
                </a:solidFill>
                <a:latin typeface="Aptos" panose="020B0004020202020204" pitchFamily="34" charset="0"/>
                <a:cs typeface="Calibri" pitchFamily="34" charset="-120"/>
              </a:rPr>
              <a:t>Producció responsable i acció climàtica. Reducció real de residus i petjada de </a:t>
            </a:r>
            <a:r>
              <a:rPr lang="en-US" sz="1200" dirty="0" err="1">
                <a:solidFill>
                  <a:srgbClr val="78909C"/>
                </a:solidFill>
                <a:latin typeface="Aptos" panose="020B0004020202020204" pitchFamily="34" charset="0"/>
                <a:cs typeface="Calibri" pitchFamily="34" charset="-120"/>
              </a:rPr>
              <a:t>carboni</a:t>
            </a:r>
            <a:r>
              <a:rPr lang="en-US" sz="1200" dirty="0">
                <a:solidFill>
                  <a:srgbClr val="78909C"/>
                </a:solidFill>
                <a:latin typeface="Aptos" panose="020B0004020202020204" pitchFamily="34" charset="0"/>
                <a:cs typeface="Calibri" pitchFamily="34" charset="-120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ca-E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Planificació:</a:t>
            </a: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12 sessions al llarg del curs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1115568"/>
            <a:ext cx="2816352" cy="1143000"/>
          </a:xfrm>
          <a:prstGeom prst="rect">
            <a:avLst/>
          </a:prstGeom>
          <a:solidFill>
            <a:srgbClr val="1F3A1F"/>
          </a:solidFill>
          <a:ln w="12700">
            <a:solidFill>
              <a:srgbClr val="4E8B4E"/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5" name="Shape 3"/>
          <p:cNvSpPr/>
          <p:nvPr/>
        </p:nvSpPr>
        <p:spPr>
          <a:xfrm>
            <a:off x="228600" y="1115568"/>
            <a:ext cx="658368" cy="292608"/>
          </a:xfrm>
          <a:prstGeom prst="rect">
            <a:avLst/>
          </a:prstGeom>
          <a:solidFill>
            <a:srgbClr val="4E8B4E"/>
          </a:solidFill>
          <a:ln/>
        </p:spPr>
        <p:txBody>
          <a:bodyPr/>
          <a:lstStyle/>
          <a:p>
            <a:endParaRPr lang="ca-ES"/>
          </a:p>
        </p:txBody>
      </p:sp>
      <p:sp>
        <p:nvSpPr>
          <p:cNvPr id="6" name="Text 4"/>
          <p:cNvSpPr/>
          <p:nvPr/>
        </p:nvSpPr>
        <p:spPr>
          <a:xfrm>
            <a:off x="228600" y="1115568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S1-S2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941832" y="1152144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Investigació i disseny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20040" y="1481328"/>
            <a:ext cx="26334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BB8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Economia circular · plànol acotat · llista de materials · diagrama de Gantt</a:t>
            </a:r>
            <a:endParaRPr lang="en-US" sz="1000" dirty="0">
              <a:latin typeface="Aptos" panose="020B00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200400" y="1115568"/>
            <a:ext cx="2816352" cy="1143000"/>
          </a:xfrm>
          <a:prstGeom prst="rect">
            <a:avLst/>
          </a:prstGeom>
          <a:solidFill>
            <a:srgbClr val="1F3A1F"/>
          </a:solidFill>
          <a:ln w="12700">
            <a:solidFill>
              <a:srgbClr val="6AA86A"/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10" name="Shape 8"/>
          <p:cNvSpPr/>
          <p:nvPr/>
        </p:nvSpPr>
        <p:spPr>
          <a:xfrm>
            <a:off x="3200400" y="1115568"/>
            <a:ext cx="658368" cy="292608"/>
          </a:xfrm>
          <a:prstGeom prst="rect">
            <a:avLst/>
          </a:prstGeom>
          <a:solidFill>
            <a:srgbClr val="6AA86A"/>
          </a:solidFill>
          <a:ln/>
        </p:spPr>
        <p:txBody>
          <a:bodyPr/>
          <a:lstStyle/>
          <a:p>
            <a:endParaRPr lang="ca-ES"/>
          </a:p>
        </p:txBody>
      </p:sp>
      <p:sp>
        <p:nvSpPr>
          <p:cNvPr id="11" name="Text 9"/>
          <p:cNvSpPr/>
          <p:nvPr/>
        </p:nvSpPr>
        <p:spPr>
          <a:xfrm>
            <a:off x="3200400" y="1115568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ptos" panose="020B0004020202020204" pitchFamily="34" charset="0"/>
                <a:cs typeface="Calibri" pitchFamily="34" charset="-120"/>
              </a:rPr>
              <a:t>S3</a:t>
            </a:r>
          </a:p>
        </p:txBody>
      </p:sp>
      <p:sp>
        <p:nvSpPr>
          <p:cNvPr id="12" name="Text 10"/>
          <p:cNvSpPr/>
          <p:nvPr/>
        </p:nvSpPr>
        <p:spPr>
          <a:xfrm>
            <a:off x="3913632" y="1152144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Aprovisionament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291840" y="1481328"/>
            <a:ext cx="26334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8FBB8F"/>
                </a:solidFill>
                <a:latin typeface="Aptos" panose="020B0004020202020204" pitchFamily="34" charset="0"/>
                <a:cs typeface="Calibri" pitchFamily="34" charset="-120"/>
              </a:rPr>
              <a:t>Visita ecoparc o fusteria · recollida i classificació de </a:t>
            </a:r>
            <a:r>
              <a:rPr lang="en-US" sz="1000" dirty="0" err="1">
                <a:solidFill>
                  <a:srgbClr val="8FBB8F"/>
                </a:solidFill>
                <a:latin typeface="Aptos" panose="020B0004020202020204" pitchFamily="34" charset="0"/>
                <a:cs typeface="Calibri" pitchFamily="34" charset="-120"/>
              </a:rPr>
              <a:t>fusta</a:t>
            </a:r>
            <a:r>
              <a:rPr lang="en-US" sz="1000" dirty="0">
                <a:solidFill>
                  <a:srgbClr val="8FBB8F"/>
                </a:solidFill>
                <a:latin typeface="Aptos" panose="020B0004020202020204" pitchFamily="34" charset="0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8FBB8F"/>
                </a:solidFill>
                <a:latin typeface="Aptos" panose="020B0004020202020204" pitchFamily="34" charset="0"/>
                <a:cs typeface="Calibri" pitchFamily="34" charset="-120"/>
              </a:rPr>
              <a:t>reciclada</a:t>
            </a:r>
            <a:endParaRPr lang="en-US" sz="1000" dirty="0">
              <a:solidFill>
                <a:srgbClr val="8FBB8F"/>
              </a:solidFill>
              <a:latin typeface="Aptos" panose="020B0004020202020204" pitchFamily="34" charset="0"/>
              <a:cs typeface="Calibri" pitchFamily="34" charset="-12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172200" y="1115568"/>
            <a:ext cx="2816352" cy="1143000"/>
          </a:xfrm>
          <a:prstGeom prst="rect">
            <a:avLst/>
          </a:prstGeom>
          <a:solidFill>
            <a:srgbClr val="1F3A1F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15" name="Shape 13"/>
          <p:cNvSpPr/>
          <p:nvPr/>
        </p:nvSpPr>
        <p:spPr>
          <a:xfrm>
            <a:off x="6172200" y="1115568"/>
            <a:ext cx="658368" cy="292608"/>
          </a:xfrm>
          <a:prstGeom prst="rect">
            <a:avLst/>
          </a:prstGeom>
          <a:solidFill>
            <a:srgbClr val="E8A020"/>
          </a:solidFill>
          <a:ln/>
        </p:spPr>
        <p:txBody>
          <a:bodyPr/>
          <a:lstStyle/>
          <a:p>
            <a:endParaRPr lang="ca-ES"/>
          </a:p>
        </p:txBody>
      </p:sp>
      <p:sp>
        <p:nvSpPr>
          <p:cNvPr id="16" name="Text 14"/>
          <p:cNvSpPr/>
          <p:nvPr/>
        </p:nvSpPr>
        <p:spPr>
          <a:xfrm>
            <a:off x="6172200" y="1115568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anose="020B0004020202020204" pitchFamily="34" charset="0"/>
                <a:cs typeface="Calibri" pitchFamily="34" charset="-120"/>
              </a:rPr>
              <a:t>S4</a:t>
            </a:r>
          </a:p>
        </p:txBody>
      </p:sp>
      <p:sp>
        <p:nvSpPr>
          <p:cNvPr id="17" name="Text 15"/>
          <p:cNvSpPr/>
          <p:nvPr/>
        </p:nvSpPr>
        <p:spPr>
          <a:xfrm>
            <a:off x="6885432" y="1152144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Preparació de la fusta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263640" y="1481328"/>
            <a:ext cx="26334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8FBB8F"/>
                </a:solidFill>
                <a:latin typeface="Aptos" panose="020B0004020202020204" pitchFamily="34" charset="0"/>
                <a:cs typeface="Calibri" pitchFamily="34" charset="-120"/>
              </a:rPr>
              <a:t>Desmuntatge palets · extracció claus · llimat · tractament oli de </a:t>
            </a:r>
            <a:r>
              <a:rPr lang="en-US" sz="1000" dirty="0" err="1">
                <a:solidFill>
                  <a:srgbClr val="8FBB8F"/>
                </a:solidFill>
                <a:latin typeface="Aptos" panose="020B0004020202020204" pitchFamily="34" charset="0"/>
                <a:cs typeface="Calibri" pitchFamily="34" charset="-120"/>
              </a:rPr>
              <a:t>llinosa</a:t>
            </a:r>
            <a:endParaRPr lang="en-US" sz="1000" dirty="0">
              <a:solidFill>
                <a:srgbClr val="8FBB8F"/>
              </a:solidFill>
              <a:latin typeface="Aptos" panose="020B0004020202020204" pitchFamily="34" charset="0"/>
              <a:cs typeface="Calibri" pitchFamily="34" charset="-12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228600" y="2395728"/>
            <a:ext cx="2816352" cy="1143000"/>
          </a:xfrm>
          <a:prstGeom prst="rect">
            <a:avLst/>
          </a:prstGeom>
          <a:solidFill>
            <a:srgbClr val="1F3A1F"/>
          </a:solidFill>
          <a:ln w="12700">
            <a:solidFill>
              <a:srgbClr val="5D4037"/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20" name="Shape 18"/>
          <p:cNvSpPr/>
          <p:nvPr/>
        </p:nvSpPr>
        <p:spPr>
          <a:xfrm>
            <a:off x="228600" y="2395728"/>
            <a:ext cx="658368" cy="292608"/>
          </a:xfrm>
          <a:prstGeom prst="rect">
            <a:avLst/>
          </a:prstGeom>
          <a:solidFill>
            <a:srgbClr val="5D4037"/>
          </a:solidFill>
          <a:ln/>
        </p:spPr>
        <p:txBody>
          <a:bodyPr/>
          <a:lstStyle/>
          <a:p>
            <a:endParaRPr lang="ca-ES"/>
          </a:p>
        </p:txBody>
      </p:sp>
      <p:sp>
        <p:nvSpPr>
          <p:cNvPr id="21" name="Text 19"/>
          <p:cNvSpPr/>
          <p:nvPr/>
        </p:nvSpPr>
        <p:spPr>
          <a:xfrm>
            <a:off x="228600" y="2395728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ptos" panose="020B0004020202020204" pitchFamily="34" charset="0"/>
                <a:cs typeface="Calibri" pitchFamily="34" charset="-120"/>
              </a:rPr>
              <a:t>S5-S6</a:t>
            </a:r>
          </a:p>
        </p:txBody>
      </p:sp>
      <p:sp>
        <p:nvSpPr>
          <p:cNvPr id="22" name="Text 20"/>
          <p:cNvSpPr/>
          <p:nvPr/>
        </p:nvSpPr>
        <p:spPr>
          <a:xfrm>
            <a:off x="941832" y="2432304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Construcció del caixó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20040" y="2761488"/>
            <a:ext cx="26334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8FBB8F"/>
                </a:solidFill>
                <a:latin typeface="Aptos" panose="020B0004020202020204" pitchFamily="34" charset="0"/>
                <a:cs typeface="Calibri" pitchFamily="34" charset="-120"/>
              </a:rPr>
              <a:t>Mesura · tall (docent) · pre-forat · muntatge laterals · base · </a:t>
            </a:r>
            <a:r>
              <a:rPr lang="en-US" sz="1000" dirty="0" err="1">
                <a:solidFill>
                  <a:srgbClr val="8FBB8F"/>
                </a:solidFill>
                <a:latin typeface="Aptos" panose="020B0004020202020204" pitchFamily="34" charset="0"/>
                <a:cs typeface="Calibri" pitchFamily="34" charset="-120"/>
              </a:rPr>
              <a:t>potes</a:t>
            </a:r>
            <a:endParaRPr lang="en-US" sz="1000" dirty="0">
              <a:solidFill>
                <a:srgbClr val="8FBB8F"/>
              </a:solidFill>
              <a:latin typeface="Aptos" panose="020B0004020202020204" pitchFamily="34" charset="0"/>
              <a:cs typeface="Calibri" pitchFamily="34" charset="-12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3200400" y="2395728"/>
            <a:ext cx="2816352" cy="1143000"/>
          </a:xfrm>
          <a:prstGeom prst="rect">
            <a:avLst/>
          </a:prstGeom>
          <a:solidFill>
            <a:srgbClr val="1F3A1F"/>
          </a:solidFill>
          <a:ln w="12700">
            <a:solidFill>
              <a:srgbClr val="28828F"/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25" name="Shape 23"/>
          <p:cNvSpPr/>
          <p:nvPr/>
        </p:nvSpPr>
        <p:spPr>
          <a:xfrm>
            <a:off x="3200400" y="2395728"/>
            <a:ext cx="658368" cy="292608"/>
          </a:xfrm>
          <a:prstGeom prst="rect">
            <a:avLst/>
          </a:prstGeom>
          <a:solidFill>
            <a:srgbClr val="28828F"/>
          </a:solidFill>
          <a:ln/>
        </p:spPr>
        <p:txBody>
          <a:bodyPr/>
          <a:lstStyle/>
          <a:p>
            <a:endParaRPr lang="ca-ES"/>
          </a:p>
        </p:txBody>
      </p:sp>
      <p:sp>
        <p:nvSpPr>
          <p:cNvPr id="26" name="Text 24"/>
          <p:cNvSpPr/>
          <p:nvPr/>
        </p:nvSpPr>
        <p:spPr>
          <a:xfrm>
            <a:off x="3200400" y="2395728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anose="020B0004020202020204" pitchFamily="34" charset="0"/>
                <a:cs typeface="Calibri" pitchFamily="34" charset="-120"/>
              </a:rPr>
              <a:t>S7</a:t>
            </a:r>
          </a:p>
        </p:txBody>
      </p:sp>
      <p:sp>
        <p:nvSpPr>
          <p:cNvPr id="27" name="Text 25"/>
          <p:cNvSpPr/>
          <p:nvPr/>
        </p:nvSpPr>
        <p:spPr>
          <a:xfrm>
            <a:off x="3913632" y="2432304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Passacables i drenatge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291840" y="2761488"/>
            <a:ext cx="26334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8FBB8F"/>
                </a:solidFill>
                <a:latin typeface="Aptos" panose="020B0004020202020204" pitchFamily="34" charset="0"/>
                <a:cs typeface="Calibri" pitchFamily="34" charset="-120"/>
              </a:rPr>
              <a:t>Forats per a sensors i reg · tubs PVC · graveta volcànica · </a:t>
            </a:r>
            <a:r>
              <a:rPr lang="en-US" sz="1000" dirty="0" err="1">
                <a:solidFill>
                  <a:srgbClr val="8FBB8F"/>
                </a:solidFill>
                <a:latin typeface="Aptos" panose="020B0004020202020204" pitchFamily="34" charset="0"/>
                <a:cs typeface="Calibri" pitchFamily="34" charset="-120"/>
              </a:rPr>
              <a:t>geotèxtil</a:t>
            </a:r>
            <a:endParaRPr lang="en-US" sz="1000" dirty="0">
              <a:solidFill>
                <a:srgbClr val="8FBB8F"/>
              </a:solidFill>
              <a:latin typeface="Aptos" panose="020B0004020202020204" pitchFamily="34" charset="0"/>
              <a:cs typeface="Calibri" pitchFamily="34" charset="-12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172200" y="2395728"/>
            <a:ext cx="2816352" cy="1143000"/>
          </a:xfrm>
          <a:prstGeom prst="rect">
            <a:avLst/>
          </a:prstGeom>
          <a:solidFill>
            <a:srgbClr val="1F3A1F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30" name="Shape 28"/>
          <p:cNvSpPr/>
          <p:nvPr/>
        </p:nvSpPr>
        <p:spPr>
          <a:xfrm>
            <a:off x="6172200" y="2395728"/>
            <a:ext cx="658368" cy="292608"/>
          </a:xfrm>
          <a:prstGeom prst="rect">
            <a:avLst/>
          </a:prstGeom>
          <a:solidFill>
            <a:srgbClr val="7B5EA7"/>
          </a:solidFill>
          <a:ln/>
        </p:spPr>
        <p:txBody>
          <a:bodyPr/>
          <a:lstStyle/>
          <a:p>
            <a:endParaRPr lang="ca-ES"/>
          </a:p>
        </p:txBody>
      </p:sp>
      <p:sp>
        <p:nvSpPr>
          <p:cNvPr id="31" name="Text 29"/>
          <p:cNvSpPr/>
          <p:nvPr/>
        </p:nvSpPr>
        <p:spPr>
          <a:xfrm>
            <a:off x="6172200" y="2395728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anose="020B0004020202020204" pitchFamily="34" charset="0"/>
                <a:cs typeface="Calibri" pitchFamily="34" charset="-120"/>
              </a:rPr>
              <a:t>S8</a:t>
            </a:r>
          </a:p>
        </p:txBody>
      </p:sp>
      <p:sp>
        <p:nvSpPr>
          <p:cNvPr id="32" name="Text 30"/>
          <p:cNvSpPr/>
          <p:nvPr/>
        </p:nvSpPr>
        <p:spPr>
          <a:xfrm>
            <a:off x="6885432" y="2432304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Substrat i primera plantació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263640" y="2761488"/>
            <a:ext cx="26334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8FBB8F"/>
                </a:solidFill>
                <a:latin typeface="Aptos" panose="020B0004020202020204" pitchFamily="34" charset="0"/>
                <a:cs typeface="Calibri" pitchFamily="34" charset="-120"/>
              </a:rPr>
              <a:t>Mescla substrat (terra+perlita+compost) · omplir caixó · plantar </a:t>
            </a:r>
            <a:r>
              <a:rPr lang="en-US" sz="1000" dirty="0" err="1">
                <a:solidFill>
                  <a:srgbClr val="8FBB8F"/>
                </a:solidFill>
                <a:latin typeface="Aptos" panose="020B0004020202020204" pitchFamily="34" charset="0"/>
                <a:cs typeface="Calibri" pitchFamily="34" charset="-120"/>
              </a:rPr>
              <a:t>llavors</a:t>
            </a:r>
            <a:endParaRPr lang="en-US" sz="1000" dirty="0">
              <a:solidFill>
                <a:srgbClr val="8FBB8F"/>
              </a:solidFill>
              <a:latin typeface="Aptos" panose="020B0004020202020204" pitchFamily="34" charset="0"/>
              <a:cs typeface="Calibri" pitchFamily="34" charset="-12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228600" y="3675888"/>
            <a:ext cx="2816352" cy="1143000"/>
          </a:xfrm>
          <a:prstGeom prst="rect">
            <a:avLst/>
          </a:prstGeom>
          <a:solidFill>
            <a:srgbClr val="1F3A1F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35" name="Shape 33"/>
          <p:cNvSpPr/>
          <p:nvPr/>
        </p:nvSpPr>
        <p:spPr>
          <a:xfrm>
            <a:off x="228600" y="3675888"/>
            <a:ext cx="658368" cy="292608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ca-ES"/>
          </a:p>
        </p:txBody>
      </p:sp>
      <p:sp>
        <p:nvSpPr>
          <p:cNvPr id="36" name="Text 34"/>
          <p:cNvSpPr/>
          <p:nvPr/>
        </p:nvSpPr>
        <p:spPr>
          <a:xfrm>
            <a:off x="228600" y="3675888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ptos" panose="020B0004020202020204" pitchFamily="34" charset="0"/>
                <a:cs typeface="Calibri" pitchFamily="34" charset="-120"/>
              </a:rPr>
              <a:t>S9-S10</a:t>
            </a:r>
          </a:p>
        </p:txBody>
      </p:sp>
      <p:sp>
        <p:nvSpPr>
          <p:cNvPr id="37" name="Text 35"/>
          <p:cNvSpPr/>
          <p:nvPr/>
        </p:nvSpPr>
        <p:spPr>
          <a:xfrm>
            <a:off x="941832" y="3712464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 tecnológica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20040" y="4041648"/>
            <a:ext cx="26334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8FBB8F"/>
                </a:solidFill>
                <a:latin typeface="Aptos" panose="020B0004020202020204" pitchFamily="34" charset="0"/>
                <a:cs typeface="Calibri" pitchFamily="34" charset="-120"/>
              </a:rPr>
              <a:t>Sensors d'humitat · tub de reg per degoteig · connexió SA </a:t>
            </a:r>
            <a:r>
              <a:rPr lang="en-US" sz="1000" dirty="0" err="1">
                <a:solidFill>
                  <a:srgbClr val="8FBB8F"/>
                </a:solidFill>
                <a:latin typeface="Aptos" panose="020B0004020202020204" pitchFamily="34" charset="0"/>
                <a:cs typeface="Calibri" pitchFamily="34" charset="-120"/>
              </a:rPr>
              <a:t>automatització</a:t>
            </a:r>
            <a:endParaRPr lang="en-US" sz="1000" dirty="0">
              <a:solidFill>
                <a:srgbClr val="8FBB8F"/>
              </a:solidFill>
              <a:latin typeface="Aptos" panose="020B0004020202020204" pitchFamily="34" charset="0"/>
              <a:cs typeface="Calibri" pitchFamily="34" charset="-12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3200400" y="3675888"/>
            <a:ext cx="2816352" cy="1143000"/>
          </a:xfrm>
          <a:prstGeom prst="rect">
            <a:avLst/>
          </a:prstGeom>
          <a:solidFill>
            <a:srgbClr val="1F3A1F"/>
          </a:solidFill>
          <a:ln w="12700">
            <a:solidFill>
              <a:srgbClr val="5B8A5B"/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40" name="Shape 38"/>
          <p:cNvSpPr/>
          <p:nvPr/>
        </p:nvSpPr>
        <p:spPr>
          <a:xfrm>
            <a:off x="3200400" y="3675888"/>
            <a:ext cx="658368" cy="292608"/>
          </a:xfrm>
          <a:prstGeom prst="rect">
            <a:avLst/>
          </a:prstGeom>
          <a:solidFill>
            <a:srgbClr val="5B8A5B"/>
          </a:solidFill>
          <a:ln/>
        </p:spPr>
        <p:txBody>
          <a:bodyPr/>
          <a:lstStyle/>
          <a:p>
            <a:endParaRPr lang="ca-ES"/>
          </a:p>
        </p:txBody>
      </p:sp>
      <p:sp>
        <p:nvSpPr>
          <p:cNvPr id="41" name="Text 39"/>
          <p:cNvSpPr/>
          <p:nvPr/>
        </p:nvSpPr>
        <p:spPr>
          <a:xfrm>
            <a:off x="3200400" y="3675888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anose="020B0004020202020204" pitchFamily="34" charset="0"/>
                <a:cs typeface="Calibri" pitchFamily="34" charset="-120"/>
              </a:rPr>
              <a:t>S11</a:t>
            </a:r>
          </a:p>
        </p:txBody>
      </p:sp>
      <p:sp>
        <p:nvSpPr>
          <p:cNvPr id="42" name="Text 40"/>
          <p:cNvSpPr/>
          <p:nvPr/>
        </p:nvSpPr>
        <p:spPr>
          <a:xfrm>
            <a:off x="3913632" y="3712464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Compost (Biologia)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3291840" y="4041648"/>
            <a:ext cx="26334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8FBB8F"/>
                </a:solidFill>
                <a:latin typeface="Aptos" panose="020B0004020202020204" pitchFamily="34" charset="0"/>
                <a:cs typeface="Calibri" pitchFamily="34" charset="-120"/>
              </a:rPr>
              <a:t>Sessió interdisciplinar · construcció compostador · </a:t>
            </a:r>
            <a:r>
              <a:rPr lang="en-US" sz="1000" dirty="0" err="1">
                <a:solidFill>
                  <a:srgbClr val="8FBB8F"/>
                </a:solidFill>
                <a:latin typeface="Aptos" panose="020B0004020202020204" pitchFamily="34" charset="0"/>
                <a:cs typeface="Calibri" pitchFamily="34" charset="-120"/>
              </a:rPr>
              <a:t>residus</a:t>
            </a:r>
            <a:r>
              <a:rPr lang="en-US" sz="1000" dirty="0">
                <a:solidFill>
                  <a:srgbClr val="8FBB8F"/>
                </a:solidFill>
                <a:latin typeface="Aptos" panose="020B0004020202020204" pitchFamily="34" charset="0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8FBB8F"/>
                </a:solidFill>
                <a:latin typeface="Aptos" panose="020B0004020202020204" pitchFamily="34" charset="0"/>
                <a:cs typeface="Calibri" pitchFamily="34" charset="-120"/>
              </a:rPr>
              <a:t>vàlids</a:t>
            </a:r>
            <a:endParaRPr lang="en-US" sz="1000" dirty="0">
              <a:solidFill>
                <a:srgbClr val="8FBB8F"/>
              </a:solidFill>
              <a:latin typeface="Aptos" panose="020B0004020202020204" pitchFamily="34" charset="0"/>
              <a:cs typeface="Calibri" pitchFamily="34" charset="-120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6172200" y="3675888"/>
            <a:ext cx="2816352" cy="1143000"/>
          </a:xfrm>
          <a:prstGeom prst="rect">
            <a:avLst/>
          </a:prstGeom>
          <a:solidFill>
            <a:srgbClr val="1F3A1F"/>
          </a:solidFill>
          <a:ln w="12700">
            <a:solidFill>
              <a:srgbClr val="8D6E63"/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45" name="Shape 43"/>
          <p:cNvSpPr/>
          <p:nvPr/>
        </p:nvSpPr>
        <p:spPr>
          <a:xfrm>
            <a:off x="6172200" y="3675888"/>
            <a:ext cx="658368" cy="292608"/>
          </a:xfrm>
          <a:prstGeom prst="rect">
            <a:avLst/>
          </a:prstGeom>
          <a:solidFill>
            <a:srgbClr val="8D6E63"/>
          </a:solidFill>
          <a:ln/>
        </p:spPr>
        <p:txBody>
          <a:bodyPr/>
          <a:lstStyle/>
          <a:p>
            <a:endParaRPr lang="ca-ES"/>
          </a:p>
        </p:txBody>
      </p:sp>
      <p:sp>
        <p:nvSpPr>
          <p:cNvPr id="46" name="Text 44"/>
          <p:cNvSpPr/>
          <p:nvPr/>
        </p:nvSpPr>
        <p:spPr>
          <a:xfrm>
            <a:off x="6172200" y="3675888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anose="020B0004020202020204" pitchFamily="34" charset="0"/>
                <a:cs typeface="Calibri" pitchFamily="34" charset="-120"/>
              </a:rPr>
              <a:t>S12</a:t>
            </a:r>
          </a:p>
        </p:txBody>
      </p:sp>
      <p:sp>
        <p:nvSpPr>
          <p:cNvPr id="47" name="Text 45"/>
          <p:cNvSpPr/>
          <p:nvPr/>
        </p:nvSpPr>
        <p:spPr>
          <a:xfrm>
            <a:off x="6885432" y="3712464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Memòria i presentació final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263640" y="4041648"/>
            <a:ext cx="26334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8FBB8F"/>
                </a:solidFill>
                <a:latin typeface="Aptos" panose="020B0004020202020204" pitchFamily="34" charset="0"/>
                <a:cs typeface="Calibri" pitchFamily="34" charset="-120"/>
              </a:rPr>
              <a:t>Redacció memòria tècnica · presentació oral · coavaluació · </a:t>
            </a:r>
            <a:r>
              <a:rPr lang="en-US" sz="1000" dirty="0" err="1">
                <a:solidFill>
                  <a:srgbClr val="8FBB8F"/>
                </a:solidFill>
                <a:latin typeface="Aptos" panose="020B0004020202020204" pitchFamily="34" charset="0"/>
                <a:cs typeface="Calibri" pitchFamily="34" charset="-120"/>
              </a:rPr>
              <a:t>rúbriques</a:t>
            </a:r>
            <a:endParaRPr lang="en-US" sz="1000" dirty="0">
              <a:solidFill>
                <a:srgbClr val="8FBB8F"/>
              </a:solidFill>
              <a:latin typeface="Aptos" panose="020B0004020202020204" pitchFamily="34" charset="0"/>
              <a:cs typeface="Calibri" pitchFamily="34" charset="-12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E0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5D4037"/>
          </a:solidFill>
          <a:ln/>
        </p:spPr>
        <p:txBody>
          <a:bodyPr/>
          <a:lstStyle/>
          <a:p>
            <a:endParaRPr lang="ca-E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fusta reciclada: com triar bé?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9059542"/>
              </p:ext>
            </p:extLst>
          </p:nvPr>
        </p:nvGraphicFramePr>
        <p:xfrm>
          <a:off x="365760" y="1293931"/>
          <a:ext cx="8412480" cy="3328416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Material</a:t>
                      </a:r>
                      <a:endParaRPr lang="en-US" sz="160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CD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D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D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D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40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Apte?</a:t>
                      </a:r>
                      <a:endParaRPr lang="en-US" sz="160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CD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D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D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D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40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Identificació</a:t>
                      </a:r>
                      <a:endParaRPr lang="en-US" sz="160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CD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D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D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D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40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74F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Palet EPAL marcat HT</a:t>
                      </a:r>
                      <a:endParaRPr lang="en-US" sz="120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CD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D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D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D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5E20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✓ SÍ</a:t>
                      </a:r>
                      <a:endParaRPr lang="en-US" sz="120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CD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D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D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D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74F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Busca el logo IPPC + lletres HT gravades a la fusta. Tractament tèrmic = segur.</a:t>
                      </a:r>
                      <a:endParaRPr lang="en-US" sz="120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CD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D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D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D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74F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Palet marcat MB</a:t>
                      </a:r>
                      <a:endParaRPr lang="en-US" sz="120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CD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D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D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D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B71C1C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✗ NO</a:t>
                      </a:r>
                      <a:endParaRPr lang="en-US" sz="120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CD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D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D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D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74F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MB = Methyl Bromide (pesticida tòxic). DESCARTAR sempre.</a:t>
                      </a:r>
                      <a:endParaRPr lang="en-US" sz="120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CD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D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D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D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74F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Fusta massissa de mobles</a:t>
                      </a:r>
                      <a:endParaRPr lang="en-US" sz="120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CD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D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D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D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5E20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✓ SÍ</a:t>
                      </a:r>
                      <a:endParaRPr lang="en-US" sz="120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CD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D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D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D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74F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Sense color verd ni laca brillant tòxica. Llimar la primera capa.</a:t>
                      </a:r>
                      <a:endParaRPr lang="en-US" sz="120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CD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D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D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D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74F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MDF / Aglomerat</a:t>
                      </a:r>
                      <a:endParaRPr lang="en-US" sz="120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CD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D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D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D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B71C1C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✗ NO</a:t>
                      </a:r>
                      <a:endParaRPr lang="en-US" sz="120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CD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D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D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D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74F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Es dissol amb humitat, allibera formaldehid. PROHIBIT per a hort.</a:t>
                      </a:r>
                      <a:endParaRPr lang="en-US" sz="120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CD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D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D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D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74F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Fusta verdosa de construcció</a:t>
                      </a:r>
                      <a:endParaRPr lang="en-US" sz="120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CD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D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D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D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B71C1C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✗ NO</a:t>
                      </a:r>
                      <a:endParaRPr lang="en-US" sz="120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CD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D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D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D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74F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Color verdós = tractament CCA (arsènic+coure). Molt tòxic. DESCARTAR.</a:t>
                      </a:r>
                      <a:endParaRPr lang="en-US" sz="120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CD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D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D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D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74F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Canyes i bambú</a:t>
                      </a:r>
                      <a:endParaRPr lang="en-US" sz="120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CD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D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D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D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8A020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⚠ Parcial</a:t>
                      </a:r>
                      <a:endParaRPr lang="en-US" sz="120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CD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D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D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D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74F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Per a reforços i decoració. No aptes per a les parets principals.</a:t>
                      </a:r>
                      <a:endParaRPr lang="en-US" sz="120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CD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D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D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D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B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ca-E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caixó estàndard: dimensions i components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078992"/>
            <a:ext cx="347472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3474720" cy="384048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ca-ES"/>
          </a:p>
        </p:txBody>
      </p:sp>
      <p:sp>
        <p:nvSpPr>
          <p:cNvPr id="6" name="Text 4"/>
          <p:cNvSpPr/>
          <p:nvPr/>
        </p:nvSpPr>
        <p:spPr>
          <a:xfrm>
            <a:off x="320040" y="107899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DIMENSIONS RECOMANADES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20040" y="1536192"/>
            <a:ext cx="3474720" cy="530352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ca-ES">
              <a:latin typeface="Aptos" panose="020B00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1536192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📏 Longitud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2377440" y="1536192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C5F2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80-120 cm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20040" y="2084832"/>
            <a:ext cx="3474720" cy="5303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ca-ES">
              <a:latin typeface="Aptos" panose="020B00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57200" y="2084832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📏 Amplada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377440" y="2084832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C5F2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40-60 cm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20040" y="2633472"/>
            <a:ext cx="3474720" cy="530352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ca-ES">
              <a:latin typeface="Aptos" panose="020B00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57200" y="2633472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📏 Alçada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377440" y="2633472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C5F2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25-35 cm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20040" y="3182112"/>
            <a:ext cx="3474720" cy="5303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ca-ES">
              <a:latin typeface="Aptos" panose="020B00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57200" y="3182112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📏 Gruix paret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2377440" y="3182112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C5F2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≥ 22 mm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20040" y="3730752"/>
            <a:ext cx="3474720" cy="530352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ca-ES">
              <a:latin typeface="Aptos" panose="020B00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57200" y="3730752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📏 Alçada potes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2377440" y="3730752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C5F2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10-15 cm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320040" y="4279392"/>
            <a:ext cx="3474720" cy="5303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ca-ES">
              <a:latin typeface="Aptos" panose="020B0004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57200" y="4279392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📐 Separació base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2377440" y="4279392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C5F2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1-1,5 cm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160520" y="1078992"/>
            <a:ext cx="466344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sp>
        <p:nvSpPr>
          <p:cNvPr id="26" name="Shape 24"/>
          <p:cNvSpPr/>
          <p:nvPr/>
        </p:nvSpPr>
        <p:spPr>
          <a:xfrm>
            <a:off x="4160520" y="1078992"/>
            <a:ext cx="4663440" cy="384048"/>
          </a:xfrm>
          <a:prstGeom prst="rect">
            <a:avLst/>
          </a:prstGeom>
          <a:solidFill>
            <a:srgbClr val="5D4037"/>
          </a:solidFill>
          <a:ln/>
        </p:spPr>
        <p:txBody>
          <a:bodyPr/>
          <a:lstStyle/>
          <a:p>
            <a:endParaRPr lang="ca-ES"/>
          </a:p>
        </p:txBody>
      </p:sp>
      <p:sp>
        <p:nvSpPr>
          <p:cNvPr id="27" name="Text 25"/>
          <p:cNvSpPr/>
          <p:nvPr/>
        </p:nvSpPr>
        <p:spPr>
          <a:xfrm>
            <a:off x="4160520" y="107899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100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PUNTS DE CONNEXIÓ TECNOLÓGICA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297680" y="149961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D4611A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 preparar ABANS de muntar el caixó!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297680" y="1865376"/>
            <a:ext cx="329184" cy="329184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ca-ES" sz="2400">
              <a:latin typeface="Aptos" panose="020B0004020202020204" pitchFamily="34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4297680" y="18653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4700016" y="186537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7474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Sensor humitat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4700016" y="1968824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909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Forat Ø22mm al costat curt, 5 cm de la base. Tub PVC + tap de goma.</a:t>
            </a:r>
            <a:endParaRPr lang="en-US" sz="1000" dirty="0">
              <a:latin typeface="Aptos" panose="020B0004020202020204" pitchFamily="34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4297680" y="2560320"/>
            <a:ext cx="329184" cy="329184"/>
          </a:xfrm>
          <a:prstGeom prst="rect">
            <a:avLst/>
          </a:prstGeom>
          <a:solidFill>
            <a:srgbClr val="D4611A"/>
          </a:solidFill>
          <a:ln/>
        </p:spPr>
        <p:txBody>
          <a:bodyPr/>
          <a:lstStyle/>
          <a:p>
            <a:endParaRPr lang="ca-ES" sz="2400">
              <a:latin typeface="Aptos" panose="020B0004020202020204" pitchFamily="34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4297680" y="25603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4700016" y="256032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7474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Entrada reg degoteig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4700016" y="2670048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909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Forat Ø12mm al costat curt, 8 cm del cantell superior.</a:t>
            </a:r>
            <a:endParaRPr lang="en-US" sz="1000" dirty="0">
              <a:latin typeface="Aptos" panose="020B0004020202020204" pitchFamily="34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4297680" y="3255264"/>
            <a:ext cx="329184" cy="329184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ca-ES" sz="2400">
              <a:latin typeface="Aptos" panose="020B0004020202020204" pitchFamily="34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4297680" y="32552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4700016" y="3255264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7474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Passacables elèctric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4700016" y="3364992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909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Forat Ø22mm al costat llarg, 5 cm del cantell superior.</a:t>
            </a:r>
            <a:endParaRPr lang="en-US" sz="1000" dirty="0">
              <a:latin typeface="Aptos" panose="020B0004020202020204" pitchFamily="34" charset="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4297680" y="3950208"/>
            <a:ext cx="329184" cy="329184"/>
          </a:xfrm>
          <a:prstGeom prst="rect">
            <a:avLst/>
          </a:prstGeom>
          <a:solidFill>
            <a:srgbClr val="7B5EA7"/>
          </a:solidFill>
          <a:ln/>
        </p:spPr>
        <p:txBody>
          <a:bodyPr/>
          <a:lstStyle/>
          <a:p>
            <a:endParaRPr lang="ca-ES" sz="2400">
              <a:latin typeface="Aptos" panose="020B0004020202020204" pitchFamily="34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4297680" y="39502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4700016" y="395020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7474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Suport electrovàlvula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4700016" y="4064508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909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Cargol M5 en la cara exterior per a fixar la vàlvula o regulador.</a:t>
            </a:r>
            <a:endParaRPr lang="en-US" sz="100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B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5D4037"/>
          </a:solidFill>
          <a:ln/>
        </p:spPr>
        <p:txBody>
          <a:bodyPr/>
          <a:lstStyle/>
          <a:p>
            <a:endParaRPr lang="ca-E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procés de fabricació en 8 passos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01168" y="1078992"/>
            <a:ext cx="2011680" cy="17190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sp>
        <p:nvSpPr>
          <p:cNvPr id="5" name="Shape 3"/>
          <p:cNvSpPr/>
          <p:nvPr/>
        </p:nvSpPr>
        <p:spPr>
          <a:xfrm>
            <a:off x="201168" y="1078992"/>
            <a:ext cx="2011680" cy="420624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ca-ES"/>
          </a:p>
        </p:txBody>
      </p:sp>
      <p:sp>
        <p:nvSpPr>
          <p:cNvPr id="6" name="Text 4"/>
          <p:cNvSpPr/>
          <p:nvPr/>
        </p:nvSpPr>
        <p:spPr>
          <a:xfrm>
            <a:off x="201168" y="1078992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49808" y="1133856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Selecció fusta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10896" y="1572768"/>
            <a:ext cx="181051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8909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Verificar marcatge HT. Descartar MB, MDF i fusta verdosa (CCA).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414016" y="1078992"/>
            <a:ext cx="2011680" cy="17190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sp>
        <p:nvSpPr>
          <p:cNvPr id="10" name="Shape 8"/>
          <p:cNvSpPr/>
          <p:nvPr/>
        </p:nvSpPr>
        <p:spPr>
          <a:xfrm>
            <a:off x="2414016" y="1078992"/>
            <a:ext cx="2011680" cy="420624"/>
          </a:xfrm>
          <a:prstGeom prst="rect">
            <a:avLst/>
          </a:prstGeom>
          <a:solidFill>
            <a:srgbClr val="4E8B4E"/>
          </a:solidFill>
          <a:ln/>
        </p:spPr>
        <p:txBody>
          <a:bodyPr/>
          <a:lstStyle/>
          <a:p>
            <a:endParaRPr lang="ca-ES"/>
          </a:p>
        </p:txBody>
      </p:sp>
      <p:sp>
        <p:nvSpPr>
          <p:cNvPr id="11" name="Text 9"/>
          <p:cNvSpPr/>
          <p:nvPr/>
        </p:nvSpPr>
        <p:spPr>
          <a:xfrm>
            <a:off x="2414016" y="1078992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962656" y="1133856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 err="1">
                <a:solidFill>
                  <a:srgbClr val="FFFFFF"/>
                </a:solidFill>
                <a:latin typeface="Aptos" panose="020B0004020202020204" pitchFamily="34" charset="0"/>
                <a:cs typeface="Calibri" pitchFamily="34" charset="-120"/>
              </a:rPr>
              <a:t>Desmuntatge</a:t>
            </a:r>
            <a:endParaRPr lang="en-US" sz="1200" b="1" dirty="0">
              <a:solidFill>
                <a:srgbClr val="FFFFFF"/>
              </a:solidFill>
              <a:latin typeface="Aptos" panose="020B0004020202020204" pitchFamily="34" charset="0"/>
              <a:cs typeface="Calibri" pitchFamily="34" charset="-12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523744" y="1572768"/>
            <a:ext cx="181051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8909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Separar palets amb palanca i martell. </a:t>
            </a:r>
          </a:p>
          <a:p>
            <a:pPr marL="0" indent="0">
              <a:buNone/>
            </a:pPr>
            <a:r>
              <a:rPr lang="en-US" sz="1200" dirty="0" err="1">
                <a:solidFill>
                  <a:srgbClr val="78909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Extreure</a:t>
            </a:r>
            <a:r>
              <a:rPr lang="en-US" sz="1200" dirty="0">
                <a:solidFill>
                  <a:srgbClr val="78909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claus i grapes.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626864" y="1078992"/>
            <a:ext cx="2011680" cy="17190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sp>
        <p:nvSpPr>
          <p:cNvPr id="15" name="Shape 13"/>
          <p:cNvSpPr/>
          <p:nvPr/>
        </p:nvSpPr>
        <p:spPr>
          <a:xfrm>
            <a:off x="4626864" y="1078992"/>
            <a:ext cx="2011680" cy="420624"/>
          </a:xfrm>
          <a:prstGeom prst="rect">
            <a:avLst/>
          </a:prstGeom>
          <a:solidFill>
            <a:srgbClr val="E8A020"/>
          </a:solidFill>
          <a:ln/>
        </p:spPr>
        <p:txBody>
          <a:bodyPr/>
          <a:lstStyle/>
          <a:p>
            <a:endParaRPr lang="ca-ES"/>
          </a:p>
        </p:txBody>
      </p:sp>
      <p:sp>
        <p:nvSpPr>
          <p:cNvPr id="16" name="Text 14"/>
          <p:cNvSpPr/>
          <p:nvPr/>
        </p:nvSpPr>
        <p:spPr>
          <a:xfrm>
            <a:off x="4626864" y="1078992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175504" y="1133856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FFFFFF"/>
                </a:solidFill>
                <a:latin typeface="Aptos" panose="020B0004020202020204" pitchFamily="34" charset="0"/>
                <a:cs typeface="Calibri" pitchFamily="34" charset="-120"/>
              </a:rPr>
              <a:t>Llimat </a:t>
            </a:r>
            <a:r>
              <a:rPr lang="en-US" sz="1200" b="1" dirty="0" err="1">
                <a:solidFill>
                  <a:srgbClr val="FFFFFF"/>
                </a:solidFill>
                <a:latin typeface="Aptos" panose="020B0004020202020204" pitchFamily="34" charset="0"/>
                <a:cs typeface="Calibri" pitchFamily="34" charset="-120"/>
              </a:rPr>
              <a:t>i</a:t>
            </a:r>
            <a:r>
              <a:rPr lang="en-US" sz="1200" b="1" dirty="0">
                <a:solidFill>
                  <a:srgbClr val="FFFFFF"/>
                </a:solidFill>
                <a:latin typeface="Aptos" panose="020B0004020202020204" pitchFamily="34" charset="0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FFFFFF"/>
                </a:solidFill>
                <a:latin typeface="Aptos" panose="020B0004020202020204" pitchFamily="34" charset="0"/>
                <a:cs typeface="Calibri" pitchFamily="34" charset="-120"/>
              </a:rPr>
              <a:t>tractament</a:t>
            </a:r>
            <a:endParaRPr lang="en-US" sz="1200" b="1" dirty="0">
              <a:solidFill>
                <a:srgbClr val="FFFFFF"/>
              </a:solidFill>
              <a:latin typeface="Aptos" panose="020B0004020202020204" pitchFamily="34" charset="0"/>
              <a:cs typeface="Calibri" pitchFamily="34" charset="-12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736592" y="1572768"/>
            <a:ext cx="181051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8909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Paper de vidre G80+G120. Oli de llinosa cru (1-2 capes, 24h).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839712" y="1078992"/>
            <a:ext cx="2011680" cy="17190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sp>
        <p:nvSpPr>
          <p:cNvPr id="20" name="Shape 18"/>
          <p:cNvSpPr/>
          <p:nvPr/>
        </p:nvSpPr>
        <p:spPr>
          <a:xfrm>
            <a:off x="6839712" y="1078992"/>
            <a:ext cx="2011680" cy="420624"/>
          </a:xfrm>
          <a:prstGeom prst="rect">
            <a:avLst/>
          </a:prstGeom>
          <a:solidFill>
            <a:srgbClr val="5D4037"/>
          </a:solidFill>
          <a:ln/>
        </p:spPr>
        <p:txBody>
          <a:bodyPr/>
          <a:lstStyle/>
          <a:p>
            <a:endParaRPr lang="ca-ES"/>
          </a:p>
        </p:txBody>
      </p:sp>
      <p:sp>
        <p:nvSpPr>
          <p:cNvPr id="21" name="Text 19"/>
          <p:cNvSpPr/>
          <p:nvPr/>
        </p:nvSpPr>
        <p:spPr>
          <a:xfrm>
            <a:off x="6839712" y="1078992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88352" y="1133856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FFFFFF"/>
                </a:solidFill>
                <a:latin typeface="Aptos" panose="020B0004020202020204" pitchFamily="34" charset="0"/>
                <a:cs typeface="Calibri" pitchFamily="34" charset="-120"/>
              </a:rPr>
              <a:t>Mesura </a:t>
            </a:r>
            <a:r>
              <a:rPr lang="en-US" sz="1200" b="1" dirty="0" err="1">
                <a:solidFill>
                  <a:srgbClr val="FFFFFF"/>
                </a:solidFill>
                <a:latin typeface="Aptos" panose="020B0004020202020204" pitchFamily="34" charset="0"/>
                <a:cs typeface="Calibri" pitchFamily="34" charset="-120"/>
              </a:rPr>
              <a:t>i</a:t>
            </a:r>
            <a:r>
              <a:rPr lang="en-US" sz="1200" b="1" dirty="0">
                <a:solidFill>
                  <a:srgbClr val="FFFFFF"/>
                </a:solidFill>
                <a:latin typeface="Aptos" panose="020B0004020202020204" pitchFamily="34" charset="0"/>
                <a:cs typeface="Calibri" pitchFamily="34" charset="-120"/>
              </a:rPr>
              <a:t> tall</a:t>
            </a:r>
          </a:p>
        </p:txBody>
      </p:sp>
      <p:sp>
        <p:nvSpPr>
          <p:cNvPr id="23" name="Text 21"/>
          <p:cNvSpPr/>
          <p:nvPr/>
        </p:nvSpPr>
        <p:spPr>
          <a:xfrm>
            <a:off x="6949440" y="1572768"/>
            <a:ext cx="181051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8909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Marcar amb </a:t>
            </a:r>
            <a:r>
              <a:rPr lang="en-US" sz="1200" dirty="0" err="1">
                <a:solidFill>
                  <a:srgbClr val="78909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esquadra</a:t>
            </a:r>
            <a:r>
              <a:rPr lang="en-US" sz="1200" dirty="0">
                <a:solidFill>
                  <a:srgbClr val="78909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78909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Tall docent (serradora) o alumne (serra de mà).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201168" y="2999232"/>
            <a:ext cx="2011680" cy="17190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sp>
        <p:nvSpPr>
          <p:cNvPr id="25" name="Shape 23"/>
          <p:cNvSpPr/>
          <p:nvPr/>
        </p:nvSpPr>
        <p:spPr>
          <a:xfrm>
            <a:off x="201168" y="2999232"/>
            <a:ext cx="2011680" cy="420624"/>
          </a:xfrm>
          <a:prstGeom prst="rect">
            <a:avLst/>
          </a:prstGeom>
          <a:solidFill>
            <a:srgbClr val="28828F"/>
          </a:solidFill>
          <a:ln/>
        </p:spPr>
        <p:txBody>
          <a:bodyPr/>
          <a:lstStyle/>
          <a:p>
            <a:endParaRPr lang="ca-ES"/>
          </a:p>
        </p:txBody>
      </p:sp>
      <p:sp>
        <p:nvSpPr>
          <p:cNvPr id="26" name="Text 24"/>
          <p:cNvSpPr/>
          <p:nvPr/>
        </p:nvSpPr>
        <p:spPr>
          <a:xfrm>
            <a:off x="201168" y="2999232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49808" y="3054096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 err="1">
                <a:solidFill>
                  <a:srgbClr val="FFFFFF"/>
                </a:solidFill>
                <a:latin typeface="Aptos" panose="020B0004020202020204" pitchFamily="34" charset="0"/>
                <a:cs typeface="Calibri" pitchFamily="34" charset="-120"/>
              </a:rPr>
              <a:t>Perforar</a:t>
            </a:r>
            <a:r>
              <a:rPr lang="en-US" sz="1200" b="1" dirty="0">
                <a:solidFill>
                  <a:srgbClr val="FFFFFF"/>
                </a:solidFill>
                <a:latin typeface="Aptos" panose="020B0004020202020204" pitchFamily="34" charset="0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FFFFFF"/>
                </a:solidFill>
                <a:latin typeface="Aptos" panose="020B0004020202020204" pitchFamily="34" charset="0"/>
                <a:cs typeface="Calibri" pitchFamily="34" charset="-120"/>
              </a:rPr>
              <a:t>i</a:t>
            </a:r>
            <a:r>
              <a:rPr lang="en-US" sz="1200" b="1" dirty="0">
                <a:solidFill>
                  <a:srgbClr val="FFFFFF"/>
                </a:solidFill>
                <a:latin typeface="Aptos" panose="020B0004020202020204" pitchFamily="34" charset="0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FFFFFF"/>
                </a:solidFill>
                <a:latin typeface="Aptos" panose="020B0004020202020204" pitchFamily="34" charset="0"/>
                <a:cs typeface="Calibri" pitchFamily="34" charset="-120"/>
              </a:rPr>
              <a:t>muntar</a:t>
            </a:r>
            <a:endParaRPr lang="en-US" sz="1200" b="1" dirty="0">
              <a:solidFill>
                <a:srgbClr val="FFFFFF"/>
              </a:solidFill>
              <a:latin typeface="Aptos" panose="020B0004020202020204" pitchFamily="34" charset="0"/>
              <a:cs typeface="Calibri" pitchFamily="34" charset="-12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310896" y="3493008"/>
            <a:ext cx="181051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 err="1">
                <a:solidFill>
                  <a:srgbClr val="78909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Perforar</a:t>
            </a:r>
            <a:r>
              <a:rPr lang="en-US" sz="1200" dirty="0">
                <a:solidFill>
                  <a:srgbClr val="78909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punts d'unió. Cargolar laterals. 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78909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Angles metàl·lics.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2414016" y="2999232"/>
            <a:ext cx="2011680" cy="17190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sp>
        <p:nvSpPr>
          <p:cNvPr id="30" name="Shape 28"/>
          <p:cNvSpPr/>
          <p:nvPr/>
        </p:nvSpPr>
        <p:spPr>
          <a:xfrm>
            <a:off x="2414016" y="2999232"/>
            <a:ext cx="2011680" cy="420624"/>
          </a:xfrm>
          <a:prstGeom prst="rect">
            <a:avLst/>
          </a:prstGeom>
          <a:solidFill>
            <a:srgbClr val="7B5EA7"/>
          </a:solidFill>
          <a:ln/>
        </p:spPr>
        <p:txBody>
          <a:bodyPr/>
          <a:lstStyle/>
          <a:p>
            <a:endParaRPr lang="ca-ES"/>
          </a:p>
        </p:txBody>
      </p:sp>
      <p:sp>
        <p:nvSpPr>
          <p:cNvPr id="31" name="Text 29"/>
          <p:cNvSpPr/>
          <p:nvPr/>
        </p:nvSpPr>
        <p:spPr>
          <a:xfrm>
            <a:off x="2414016" y="2999232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2962656" y="3054096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FFFFFF"/>
                </a:solidFill>
                <a:latin typeface="Aptos" panose="020B0004020202020204" pitchFamily="34" charset="0"/>
                <a:cs typeface="Calibri" pitchFamily="34" charset="-120"/>
              </a:rPr>
              <a:t>Base </a:t>
            </a:r>
            <a:r>
              <a:rPr lang="en-US" sz="1200" b="1" dirty="0" err="1">
                <a:solidFill>
                  <a:srgbClr val="FFFFFF"/>
                </a:solidFill>
                <a:latin typeface="Aptos" panose="020B0004020202020204" pitchFamily="34" charset="0"/>
                <a:cs typeface="Calibri" pitchFamily="34" charset="-120"/>
              </a:rPr>
              <a:t>i</a:t>
            </a:r>
            <a:r>
              <a:rPr lang="en-US" sz="1200" b="1" dirty="0">
                <a:solidFill>
                  <a:srgbClr val="FFFFFF"/>
                </a:solidFill>
                <a:latin typeface="Aptos" panose="020B0004020202020204" pitchFamily="34" charset="0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FFFFFF"/>
                </a:solidFill>
                <a:latin typeface="Aptos" panose="020B0004020202020204" pitchFamily="34" charset="0"/>
                <a:cs typeface="Calibri" pitchFamily="34" charset="-120"/>
              </a:rPr>
              <a:t>potes</a:t>
            </a:r>
            <a:endParaRPr lang="en-US" sz="1200" b="1" dirty="0">
              <a:solidFill>
                <a:srgbClr val="FFFFFF"/>
              </a:solidFill>
              <a:latin typeface="Aptos" panose="020B0004020202020204" pitchFamily="34" charset="0"/>
              <a:cs typeface="Calibri" pitchFamily="34" charset="-12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2523744" y="3493008"/>
            <a:ext cx="181051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8909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Base amb separació 1-1,5cm (drenatge). 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78909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Potes 5x5cm, 12cm alçada.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4626864" y="2999232"/>
            <a:ext cx="2011680" cy="17190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sp>
        <p:nvSpPr>
          <p:cNvPr id="35" name="Shape 33"/>
          <p:cNvSpPr/>
          <p:nvPr/>
        </p:nvSpPr>
        <p:spPr>
          <a:xfrm>
            <a:off x="4626864" y="2999232"/>
            <a:ext cx="2011680" cy="420624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ca-ES"/>
          </a:p>
        </p:txBody>
      </p:sp>
      <p:sp>
        <p:nvSpPr>
          <p:cNvPr id="36" name="Text 34"/>
          <p:cNvSpPr/>
          <p:nvPr/>
        </p:nvSpPr>
        <p:spPr>
          <a:xfrm>
            <a:off x="4626864" y="2999232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175504" y="3054096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 err="1">
                <a:solidFill>
                  <a:srgbClr val="FFFFFF"/>
                </a:solidFill>
                <a:latin typeface="Aptos" panose="020B0004020202020204" pitchFamily="34" charset="0"/>
                <a:cs typeface="Calibri" pitchFamily="34" charset="-120"/>
              </a:rPr>
              <a:t>Passacables</a:t>
            </a:r>
            <a:endParaRPr lang="en-US" sz="1200" b="1" dirty="0">
              <a:solidFill>
                <a:srgbClr val="FFFFFF"/>
              </a:solidFill>
              <a:latin typeface="Aptos" panose="020B0004020202020204" pitchFamily="34" charset="0"/>
              <a:cs typeface="Calibri" pitchFamily="34" charset="-12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4736592" y="3493008"/>
            <a:ext cx="181051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8909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Forats Ø22mm (sensor) i Ø12mm (reg).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78909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Tubs PVC + taps de goma.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6839712" y="2999232"/>
            <a:ext cx="2011680" cy="17190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sp>
        <p:nvSpPr>
          <p:cNvPr id="40" name="Shape 38"/>
          <p:cNvSpPr/>
          <p:nvPr/>
        </p:nvSpPr>
        <p:spPr>
          <a:xfrm>
            <a:off x="6839712" y="2999232"/>
            <a:ext cx="2011680" cy="420624"/>
          </a:xfrm>
          <a:prstGeom prst="rect">
            <a:avLst/>
          </a:prstGeom>
          <a:solidFill>
            <a:srgbClr val="6AA86A"/>
          </a:solidFill>
          <a:ln/>
        </p:spPr>
        <p:txBody>
          <a:bodyPr/>
          <a:lstStyle/>
          <a:p>
            <a:endParaRPr lang="ca-ES"/>
          </a:p>
        </p:txBody>
      </p:sp>
      <p:sp>
        <p:nvSpPr>
          <p:cNvPr id="41" name="Text 39"/>
          <p:cNvSpPr/>
          <p:nvPr/>
        </p:nvSpPr>
        <p:spPr>
          <a:xfrm>
            <a:off x="6839712" y="2999232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388352" y="3054096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FFFFFF"/>
                </a:solidFill>
                <a:latin typeface="Aptos" panose="020B0004020202020204" pitchFamily="34" charset="0"/>
                <a:cs typeface="Calibri" pitchFamily="34" charset="-120"/>
              </a:rPr>
              <a:t>Drenatge </a:t>
            </a:r>
            <a:r>
              <a:rPr lang="en-US" sz="1200" b="1" dirty="0" err="1">
                <a:solidFill>
                  <a:srgbClr val="FFFFFF"/>
                </a:solidFill>
                <a:latin typeface="Aptos" panose="020B0004020202020204" pitchFamily="34" charset="0"/>
                <a:cs typeface="Calibri" pitchFamily="34" charset="-120"/>
              </a:rPr>
              <a:t>i</a:t>
            </a:r>
            <a:r>
              <a:rPr lang="en-US" sz="1200" b="1" dirty="0">
                <a:solidFill>
                  <a:srgbClr val="FFFFFF"/>
                </a:solidFill>
                <a:latin typeface="Aptos" panose="020B0004020202020204" pitchFamily="34" charset="0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FFFFFF"/>
                </a:solidFill>
                <a:latin typeface="Aptos" panose="020B0004020202020204" pitchFamily="34" charset="0"/>
                <a:cs typeface="Calibri" pitchFamily="34" charset="-120"/>
              </a:rPr>
              <a:t>substrat</a:t>
            </a:r>
            <a:endParaRPr lang="en-US" sz="1200" b="1" dirty="0">
              <a:solidFill>
                <a:srgbClr val="FFFFFF"/>
              </a:solidFill>
              <a:latin typeface="Aptos" panose="020B0004020202020204" pitchFamily="34" charset="0"/>
              <a:cs typeface="Calibri" pitchFamily="34" charset="-12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6949440" y="3493008"/>
            <a:ext cx="181051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8909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Graveta 3-5cm + geotèxtil. Substrat: 60% terra+20% perlita+20% compost.</a:t>
            </a:r>
            <a:endParaRPr lang="en-US" sz="120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D4611A"/>
          </a:solidFill>
          <a:ln/>
        </p:spPr>
        <p:txBody>
          <a:bodyPr/>
          <a:lstStyle/>
          <a:p>
            <a:endParaRPr lang="ca-E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⚠  Normes de seguretat al taller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93776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937760" cy="347472"/>
          </a:xfrm>
          <a:prstGeom prst="rect">
            <a:avLst/>
          </a:prstGeom>
          <a:solidFill>
            <a:srgbClr val="D4611A"/>
          </a:solidFill>
          <a:ln/>
        </p:spPr>
        <p:txBody>
          <a:bodyPr/>
          <a:lstStyle/>
          <a:p>
            <a:endParaRPr lang="ca-ES" sz="2800">
              <a:latin typeface="Aptos" panose="020B00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274320" y="105156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Aptos" panose="020B0004020202020204" pitchFamily="34" charset="0"/>
              </a:rPr>
              <a:t>EQUIPAMENT DE PROTECCIÓ (EPI)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74320" y="1463040"/>
            <a:ext cx="4937760" cy="60350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ca-ES" sz="3200"/>
          </a:p>
        </p:txBody>
      </p:sp>
      <p:sp>
        <p:nvSpPr>
          <p:cNvPr id="8" name="Text 6"/>
          <p:cNvSpPr/>
          <p:nvPr/>
        </p:nvSpPr>
        <p:spPr>
          <a:xfrm>
            <a:off x="420624" y="149961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6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🥽 Ulleres de protecció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20624" y="175564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Obligatòries en tot moment durant el tall, llimat i tractament de la fusta.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103120"/>
            <a:ext cx="4937760" cy="603504"/>
          </a:xfrm>
          <a:prstGeom prst="rect">
            <a:avLst/>
          </a:prstGeom>
          <a:solidFill>
            <a:srgbClr val="FFF3EC"/>
          </a:solidFill>
          <a:ln/>
        </p:spPr>
        <p:txBody>
          <a:bodyPr/>
          <a:lstStyle/>
          <a:p>
            <a:endParaRPr lang="ca-ES" sz="3200"/>
          </a:p>
        </p:txBody>
      </p:sp>
      <p:sp>
        <p:nvSpPr>
          <p:cNvPr id="11" name="Text 9"/>
          <p:cNvSpPr/>
          <p:nvPr/>
        </p:nvSpPr>
        <p:spPr>
          <a:xfrm>
            <a:off x="420624" y="213969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6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🧤 Guants (cuir/nitrile)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20624" y="239572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en contacte amb fusta no tractada, productes químics i metalls.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743200"/>
            <a:ext cx="4937760" cy="60350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ca-ES" sz="3200"/>
          </a:p>
        </p:txBody>
      </p:sp>
      <p:sp>
        <p:nvSpPr>
          <p:cNvPr id="14" name="Text 12"/>
          <p:cNvSpPr/>
          <p:nvPr/>
        </p:nvSpPr>
        <p:spPr>
          <a:xfrm>
            <a:off x="420624" y="277977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6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😷 Mascareta FFP2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20624" y="303580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Obligatòria durant el llimat (pols) i l'aplicació d'oli de llinosa.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383280"/>
            <a:ext cx="4937760" cy="603504"/>
          </a:xfrm>
          <a:prstGeom prst="rect">
            <a:avLst/>
          </a:prstGeom>
          <a:solidFill>
            <a:srgbClr val="FFF3EC"/>
          </a:solidFill>
          <a:ln/>
        </p:spPr>
        <p:txBody>
          <a:bodyPr/>
          <a:lstStyle/>
          <a:p>
            <a:endParaRPr lang="ca-ES" sz="3200"/>
          </a:p>
        </p:txBody>
      </p:sp>
      <p:sp>
        <p:nvSpPr>
          <p:cNvPr id="17" name="Text 15"/>
          <p:cNvSpPr/>
          <p:nvPr/>
        </p:nvSpPr>
        <p:spPr>
          <a:xfrm>
            <a:off x="420624" y="341985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6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👟 Calçat tancat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20624" y="367588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Prohibit sandàlies o sabates obertes al taller en qualsevol moment.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4023360"/>
            <a:ext cx="4937760" cy="60350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ca-ES" sz="3200"/>
          </a:p>
        </p:txBody>
      </p:sp>
      <p:sp>
        <p:nvSpPr>
          <p:cNvPr id="20" name="Text 18"/>
          <p:cNvSpPr/>
          <p:nvPr/>
        </p:nvSpPr>
        <p:spPr>
          <a:xfrm>
            <a:off x="420624" y="405993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6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👕 Roba ajustada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20624" y="431596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roba ampla que puga enganxar-se en eines. Cabells sempre recollits.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0" y="1051560"/>
            <a:ext cx="338328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sp>
        <p:nvSpPr>
          <p:cNvPr id="23" name="Shape 21"/>
          <p:cNvSpPr/>
          <p:nvPr/>
        </p:nvSpPr>
        <p:spPr>
          <a:xfrm>
            <a:off x="5486400" y="1051560"/>
            <a:ext cx="3383280" cy="347472"/>
          </a:xfrm>
          <a:prstGeom prst="rect">
            <a:avLst/>
          </a:prstGeom>
          <a:solidFill>
            <a:srgbClr val="5D4037"/>
          </a:solidFill>
          <a:ln/>
        </p:spPr>
        <p:txBody>
          <a:bodyPr/>
          <a:lstStyle/>
          <a:p>
            <a:endParaRPr lang="ca-ES" sz="2800">
              <a:latin typeface="Aptos" panose="020B00040202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486400" y="105156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Aptos" panose="020B0004020202020204" pitchFamily="34" charset="0"/>
              </a:rPr>
              <a:t>EINES — PROTOCOLS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486400" y="1463040"/>
            <a:ext cx="3383280" cy="60350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ca-ES" sz="3200"/>
          </a:p>
        </p:txBody>
      </p:sp>
      <p:sp>
        <p:nvSpPr>
          <p:cNvPr id="26" name="Text 24"/>
          <p:cNvSpPr/>
          <p:nvPr/>
        </p:nvSpPr>
        <p:spPr>
          <a:xfrm>
            <a:off x="5614416" y="149961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Serradora circular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614416" y="17373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EXCLUSIVAMENT el docent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0" y="2103120"/>
            <a:ext cx="3383280" cy="603504"/>
          </a:xfrm>
          <a:prstGeom prst="rect">
            <a:avLst/>
          </a:prstGeom>
          <a:solidFill>
            <a:srgbClr val="EDE0D4"/>
          </a:solidFill>
          <a:ln/>
        </p:spPr>
        <p:txBody>
          <a:bodyPr/>
          <a:lstStyle/>
          <a:p>
            <a:endParaRPr lang="ca-ES" sz="3200"/>
          </a:p>
        </p:txBody>
      </p:sp>
      <p:sp>
        <p:nvSpPr>
          <p:cNvPr id="29" name="Text 27"/>
          <p:cNvSpPr/>
          <p:nvPr/>
        </p:nvSpPr>
        <p:spPr>
          <a:xfrm>
            <a:off x="5614416" y="213969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Trepant elèctric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614416" y="23774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Peça fixada amb mordassa. Pressió suau.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0" y="2743200"/>
            <a:ext cx="3383280" cy="60350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ca-ES" sz="3200"/>
          </a:p>
        </p:txBody>
      </p:sp>
      <p:sp>
        <p:nvSpPr>
          <p:cNvPr id="32" name="Text 30"/>
          <p:cNvSpPr/>
          <p:nvPr/>
        </p:nvSpPr>
        <p:spPr>
          <a:xfrm>
            <a:off x="5614416" y="277977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Serra de mà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614416" y="3017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Peça fixada. Tall al contrari del cos.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86400" y="3383280"/>
            <a:ext cx="3383280" cy="603504"/>
          </a:xfrm>
          <a:prstGeom prst="rect">
            <a:avLst/>
          </a:prstGeom>
          <a:solidFill>
            <a:srgbClr val="EDE0D4"/>
          </a:solidFill>
          <a:ln/>
        </p:spPr>
        <p:txBody>
          <a:bodyPr/>
          <a:lstStyle/>
          <a:p>
            <a:endParaRPr lang="ca-ES" sz="3200"/>
          </a:p>
        </p:txBody>
      </p:sp>
      <p:sp>
        <p:nvSpPr>
          <p:cNvPr id="35" name="Text 33"/>
          <p:cNvSpPr/>
          <p:nvPr/>
        </p:nvSpPr>
        <p:spPr>
          <a:xfrm>
            <a:off x="5614416" y="341985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Tornavís elèctric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614416" y="36576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Velocitat baixa. Pre-forar sempre.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486400" y="4023360"/>
            <a:ext cx="3383280" cy="60350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ca-ES" sz="3200"/>
          </a:p>
        </p:txBody>
      </p:sp>
      <p:sp>
        <p:nvSpPr>
          <p:cNvPr id="38" name="Text 36"/>
          <p:cNvSpPr/>
          <p:nvPr/>
        </p:nvSpPr>
        <p:spPr>
          <a:xfrm>
            <a:off x="5614416" y="405993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Pirogravadora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614416" y="42976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 metàl·lic quan no s'usa. Molt calenta.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B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ca-E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 per caixó — pressupost orientatiu</a:t>
            </a:r>
            <a:endParaRPr lang="en-US" sz="2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095941"/>
              </p:ext>
            </p:extLst>
          </p:nvPr>
        </p:nvGraphicFramePr>
        <p:xfrm>
          <a:off x="320040" y="1005840"/>
          <a:ext cx="8503920" cy="384048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Material</a:t>
                      </a:r>
                      <a:endParaRPr lang="en-US" sz="140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Quantitat</a:t>
                      </a:r>
                      <a:endParaRPr lang="en-US" sz="140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Procedència</a:t>
                      </a:r>
                      <a:endParaRPr lang="en-US" sz="140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Cost est.</a:t>
                      </a:r>
                      <a:endParaRPr lang="en-US" sz="140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74F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Llistons fusta reciclada</a:t>
                      </a:r>
                      <a:endParaRPr lang="en-US" sz="120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74F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8-12 llistons 100×10×2,2cm</a:t>
                      </a:r>
                      <a:endParaRPr lang="en-US" sz="120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74F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♻ Reciclat</a:t>
                      </a:r>
                      <a:endParaRPr lang="en-US" sz="120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74F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0 €</a:t>
                      </a:r>
                      <a:endParaRPr lang="en-US" sz="120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74F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Cargols galvanitzats 4,5×45mm</a:t>
                      </a:r>
                      <a:endParaRPr lang="en-US" sz="120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74F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60-80 unitats</a:t>
                      </a:r>
                      <a:endParaRPr lang="en-US" sz="120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74F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Comprat</a:t>
                      </a:r>
                      <a:endParaRPr lang="en-US" sz="120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74F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~2 €</a:t>
                      </a:r>
                      <a:endParaRPr lang="en-US" sz="120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74F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Escaires metàl·lics (8 unitats)</a:t>
                      </a:r>
                      <a:endParaRPr lang="en-US" sz="120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74F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8 unitats</a:t>
                      </a:r>
                      <a:endParaRPr lang="en-US" sz="120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74F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Comprat</a:t>
                      </a:r>
                      <a:endParaRPr lang="en-US" sz="120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74F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~3 €</a:t>
                      </a:r>
                      <a:endParaRPr lang="en-US" sz="120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74F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Geotèxtil anti-arrels (1 m²)</a:t>
                      </a:r>
                      <a:endParaRPr lang="en-US" sz="120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74F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1 m²</a:t>
                      </a:r>
                      <a:endParaRPr lang="en-US" sz="120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74F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Comprat</a:t>
                      </a:r>
                      <a:endParaRPr lang="en-US" sz="120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74F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~1 €</a:t>
                      </a:r>
                      <a:endParaRPr lang="en-US" sz="120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74F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Graveta volcànica</a:t>
                      </a:r>
                      <a:endParaRPr lang="en-US" sz="120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74F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5-8 kg</a:t>
                      </a:r>
                      <a:endParaRPr lang="en-US" sz="120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74F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Comprat</a:t>
                      </a:r>
                      <a:endParaRPr lang="en-US" sz="120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74F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~2 €</a:t>
                      </a:r>
                      <a:endParaRPr lang="en-US" sz="120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74F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Oli de llinosa cru</a:t>
                      </a:r>
                      <a:endParaRPr lang="en-US" sz="120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74F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~0,3 L</a:t>
                      </a:r>
                      <a:endParaRPr lang="en-US" sz="120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74F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Comprat</a:t>
                      </a:r>
                      <a:endParaRPr lang="en-US" sz="120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74F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~2 €</a:t>
                      </a:r>
                      <a:endParaRPr lang="en-US" sz="120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74F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Tubs PVC + taps Ø20mm</a:t>
                      </a:r>
                      <a:endParaRPr lang="en-US" sz="120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74F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2 trams 30cm + 4 taps</a:t>
                      </a:r>
                      <a:endParaRPr lang="en-US" sz="120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74F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Comprat</a:t>
                      </a:r>
                      <a:endParaRPr lang="en-US" sz="120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74F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~1,5 €</a:t>
                      </a:r>
                      <a:endParaRPr lang="en-US" sz="120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74F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Substrat + perlita + compost</a:t>
                      </a:r>
                      <a:endParaRPr lang="en-US" sz="120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74F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~30+6+6 litres</a:t>
                      </a:r>
                      <a:endParaRPr lang="en-US" sz="120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74F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Comprat / ♻</a:t>
                      </a:r>
                      <a:endParaRPr lang="en-US" sz="120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74F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~7 €</a:t>
                      </a:r>
                      <a:endParaRPr lang="en-US" sz="120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7474F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20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7474F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Per caixó complet</a:t>
                      </a:r>
                      <a:endParaRPr lang="en-US" sz="120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C5F2D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↑ Fusta gratis!</a:t>
                      </a:r>
                      <a:endParaRPr lang="en-US" sz="120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C5F2D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~ 19-22 €</a:t>
                      </a:r>
                      <a:endParaRPr lang="en-US" sz="120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ca-E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caixó intel·ligent — Integració SA original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926080" y="1188720"/>
            <a:ext cx="3291840" cy="2377440"/>
          </a:xfrm>
          <a:prstGeom prst="rect">
            <a:avLst/>
          </a:prstGeom>
          <a:solidFill>
            <a:srgbClr val="1F3A1F"/>
          </a:solidFill>
          <a:ln w="12700">
            <a:solidFill>
              <a:srgbClr val="4E8B4E"/>
            </a:solidFill>
            <a:prstDash val="solid"/>
          </a:ln>
        </p:spPr>
        <p:txBody>
          <a:bodyPr/>
          <a:lstStyle/>
          <a:p>
            <a:endParaRPr lang="ca-ES" sz="2800"/>
          </a:p>
        </p:txBody>
      </p:sp>
      <p:sp>
        <p:nvSpPr>
          <p:cNvPr id="5" name="Text 3"/>
          <p:cNvSpPr/>
          <p:nvPr/>
        </p:nvSpPr>
        <p:spPr>
          <a:xfrm>
            <a:off x="2926080" y="11887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AA86A"/>
                </a:solidFill>
                <a:latin typeface="Aptos" panose="020B0004020202020204" pitchFamily="34" charset="0"/>
                <a:ea typeface="Georgia" pitchFamily="34" charset="-122"/>
                <a:cs typeface="Georgia" pitchFamily="34" charset="-120"/>
              </a:rPr>
              <a:t>CAIXÓ</a:t>
            </a: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063240" y="1719072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B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Planta en creixement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FB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══ Substrat (60+20+20%)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FB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░░ Geotèxtil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FB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●● Graveta volcànica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82880" y="1371600"/>
            <a:ext cx="2286000" cy="85953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ca-ES" sz="2800"/>
          </a:p>
        </p:txBody>
      </p:sp>
      <p:sp>
        <p:nvSpPr>
          <p:cNvPr id="8" name="Text 6"/>
          <p:cNvSpPr/>
          <p:nvPr/>
        </p:nvSpPr>
        <p:spPr>
          <a:xfrm>
            <a:off x="256032" y="1408176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Humitat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56032" y="181051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Capacitiu v1.2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A0 Arduino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468880" y="1920240"/>
            <a:ext cx="457200" cy="0"/>
          </a:xfrm>
          <a:prstGeom prst="line">
            <a:avLst/>
          </a:prstGeom>
          <a:noFill/>
          <a:ln w="19050">
            <a:solidFill>
              <a:srgbClr val="1565C0"/>
            </a:solidFill>
            <a:prstDash val="dash"/>
          </a:ln>
        </p:spPr>
        <p:txBody>
          <a:bodyPr/>
          <a:lstStyle/>
          <a:p>
            <a:endParaRPr lang="ca-ES" sz="2800"/>
          </a:p>
        </p:txBody>
      </p:sp>
      <p:sp>
        <p:nvSpPr>
          <p:cNvPr id="11" name="Shape 9"/>
          <p:cNvSpPr/>
          <p:nvPr/>
        </p:nvSpPr>
        <p:spPr>
          <a:xfrm>
            <a:off x="182880" y="2834640"/>
            <a:ext cx="2286000" cy="859536"/>
          </a:xfrm>
          <a:prstGeom prst="rect">
            <a:avLst/>
          </a:prstGeom>
          <a:solidFill>
            <a:srgbClr val="4E8B4E"/>
          </a:solidFill>
          <a:ln w="12700">
            <a:solidFill>
              <a:srgbClr val="4E8B4E"/>
            </a:solidFill>
            <a:prstDash val="solid"/>
          </a:ln>
        </p:spPr>
        <p:txBody>
          <a:bodyPr/>
          <a:lstStyle/>
          <a:p>
            <a:endParaRPr lang="ca-ES" sz="2800"/>
          </a:p>
        </p:txBody>
      </p:sp>
      <p:sp>
        <p:nvSpPr>
          <p:cNvPr id="12" name="Text 10"/>
          <p:cNvSpPr/>
          <p:nvPr/>
        </p:nvSpPr>
        <p:spPr>
          <a:xfrm>
            <a:off x="256032" y="2871216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 per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Degoteig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56032" y="327355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Tub Ø4mm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Bomba 5V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468880" y="2926080"/>
            <a:ext cx="457200" cy="0"/>
          </a:xfrm>
          <a:prstGeom prst="line">
            <a:avLst/>
          </a:prstGeom>
          <a:noFill/>
          <a:ln w="19050">
            <a:solidFill>
              <a:srgbClr val="4E8B4E"/>
            </a:solidFill>
            <a:prstDash val="dash"/>
          </a:ln>
        </p:spPr>
        <p:txBody>
          <a:bodyPr/>
          <a:lstStyle/>
          <a:p>
            <a:endParaRPr lang="ca-ES" sz="2800"/>
          </a:p>
        </p:txBody>
      </p:sp>
      <p:sp>
        <p:nvSpPr>
          <p:cNvPr id="15" name="Shape 13"/>
          <p:cNvSpPr/>
          <p:nvPr/>
        </p:nvSpPr>
        <p:spPr>
          <a:xfrm>
            <a:off x="6217920" y="1371600"/>
            <a:ext cx="2286000" cy="859536"/>
          </a:xfrm>
          <a:prstGeom prst="rect">
            <a:avLst/>
          </a:prstGeom>
          <a:solidFill>
            <a:srgbClr val="5D4037"/>
          </a:solidFill>
          <a:ln w="12700">
            <a:solidFill>
              <a:srgbClr val="5D4037"/>
            </a:solidFill>
            <a:prstDash val="solid"/>
          </a:ln>
        </p:spPr>
        <p:txBody>
          <a:bodyPr/>
          <a:lstStyle/>
          <a:p>
            <a:endParaRPr lang="ca-ES" sz="2800"/>
          </a:p>
        </p:txBody>
      </p:sp>
      <p:sp>
        <p:nvSpPr>
          <p:cNvPr id="16" name="Text 14"/>
          <p:cNvSpPr/>
          <p:nvPr/>
        </p:nvSpPr>
        <p:spPr>
          <a:xfrm>
            <a:off x="6291072" y="1408176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/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91072" y="181051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central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original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17920" y="1920240"/>
            <a:ext cx="0" cy="0"/>
          </a:xfrm>
          <a:prstGeom prst="line">
            <a:avLst/>
          </a:prstGeom>
          <a:noFill/>
          <a:ln w="19050">
            <a:solidFill>
              <a:srgbClr val="5D4037"/>
            </a:solidFill>
            <a:prstDash val="dash"/>
          </a:ln>
        </p:spPr>
        <p:txBody>
          <a:bodyPr/>
          <a:lstStyle/>
          <a:p>
            <a:endParaRPr lang="ca-ES" sz="2800"/>
          </a:p>
        </p:txBody>
      </p:sp>
      <p:sp>
        <p:nvSpPr>
          <p:cNvPr id="19" name="Shape 17"/>
          <p:cNvSpPr/>
          <p:nvPr/>
        </p:nvSpPr>
        <p:spPr>
          <a:xfrm>
            <a:off x="6217920" y="2834640"/>
            <a:ext cx="2286000" cy="859536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ca-ES" sz="2800"/>
          </a:p>
        </p:txBody>
      </p:sp>
      <p:sp>
        <p:nvSpPr>
          <p:cNvPr id="20" name="Text 18"/>
          <p:cNvSpPr/>
          <p:nvPr/>
        </p:nvSpPr>
        <p:spPr>
          <a:xfrm>
            <a:off x="6291072" y="2871216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 →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Núvol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291072" y="327355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Thingspeak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Monitorització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217920" y="2926080"/>
            <a:ext cx="0" cy="0"/>
          </a:xfrm>
          <a:prstGeom prst="line">
            <a:avLst/>
          </a:prstGeom>
          <a:noFill/>
          <a:ln w="19050">
            <a:solidFill>
              <a:srgbClr val="7B5EA7"/>
            </a:solidFill>
            <a:prstDash val="dash"/>
          </a:ln>
        </p:spPr>
        <p:txBody>
          <a:bodyPr/>
          <a:lstStyle/>
          <a:p>
            <a:endParaRPr lang="ca-ES" sz="2800"/>
          </a:p>
        </p:txBody>
      </p:sp>
      <p:sp>
        <p:nvSpPr>
          <p:cNvPr id="23" name="Shape 21"/>
          <p:cNvSpPr/>
          <p:nvPr/>
        </p:nvSpPr>
        <p:spPr>
          <a:xfrm>
            <a:off x="182880" y="3840480"/>
            <a:ext cx="8778240" cy="1005840"/>
          </a:xfrm>
          <a:prstGeom prst="rect">
            <a:avLst/>
          </a:prstGeom>
          <a:solidFill>
            <a:srgbClr val="0D1F0D"/>
          </a:solidFill>
          <a:ln/>
        </p:spPr>
        <p:txBody>
          <a:bodyPr/>
          <a:lstStyle/>
          <a:p>
            <a:endParaRPr lang="ca-ES"/>
          </a:p>
        </p:txBody>
      </p:sp>
      <p:sp>
        <p:nvSpPr>
          <p:cNvPr id="24" name="Text 22"/>
          <p:cNvSpPr/>
          <p:nvPr/>
        </p:nvSpPr>
        <p:spPr>
          <a:xfrm>
            <a:off x="320040" y="3913632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1C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</a:t>
            </a:r>
            <a:r>
              <a:rPr lang="en-US" sz="1000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(humitat &gt; llindar)</a:t>
            </a:r>
            <a:r>
              <a:rPr lang="en-US" sz="10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digitalWrite(bombaPin, HIGH); delay(5000); digitalWrite(bombaPin, LOW); }  </a:t>
            </a:r>
            <a:r>
              <a:rPr lang="en-US" sz="1000" i="1" dirty="0">
                <a:solidFill>
                  <a:srgbClr val="4A7C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regar 5 seg si sec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0040" y="4297680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A9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Exemple de codi Arduino per a reg automàtic basat en sensor d'humitat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B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D6B2C"/>
          </a:solidFill>
          <a:ln/>
        </p:spPr>
        <p:txBody>
          <a:bodyPr/>
          <a:lstStyle/>
          <a:p>
            <a:endParaRPr lang="ca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🌿  El compostador escolar — Sessió interdisciplinar (Biologia)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1097280"/>
            <a:ext cx="1554480" cy="658368"/>
          </a:xfrm>
          <a:prstGeom prst="rect">
            <a:avLst/>
          </a:prstGeom>
          <a:solidFill>
            <a:srgbClr val="5D4037"/>
          </a:solidFill>
          <a:ln/>
        </p:spPr>
        <p:txBody>
          <a:bodyPr/>
          <a:lstStyle/>
          <a:p>
            <a:endParaRPr lang="ca-ES"/>
          </a:p>
        </p:txBody>
      </p:sp>
      <p:sp>
        <p:nvSpPr>
          <p:cNvPr id="5" name="Text 3"/>
          <p:cNvSpPr/>
          <p:nvPr/>
        </p:nvSpPr>
        <p:spPr>
          <a:xfrm>
            <a:off x="228600" y="1097280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Residus orgànics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801368" y="1097280"/>
            <a:ext cx="164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E8B4E"/>
                </a:solidFill>
              </a:rPr>
              <a:t>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984248" y="1097280"/>
            <a:ext cx="1554480" cy="658368"/>
          </a:xfrm>
          <a:prstGeom prst="rect">
            <a:avLst/>
          </a:prstGeom>
          <a:solidFill>
            <a:srgbClr val="E8A020"/>
          </a:solidFill>
          <a:ln/>
        </p:spPr>
        <p:txBody>
          <a:bodyPr/>
          <a:lstStyle/>
          <a:p>
            <a:endParaRPr lang="ca-ES"/>
          </a:p>
        </p:txBody>
      </p:sp>
      <p:sp>
        <p:nvSpPr>
          <p:cNvPr id="8" name="Text 6"/>
          <p:cNvSpPr/>
          <p:nvPr/>
        </p:nvSpPr>
        <p:spPr>
          <a:xfrm>
            <a:off x="1984248" y="1097280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 err="1">
                <a:solidFill>
                  <a:srgbClr val="FFFFFF"/>
                </a:solidFill>
                <a:latin typeface="Aptos" panose="020B0004020202020204" pitchFamily="34" charset="0"/>
                <a:cs typeface="Calibri" pitchFamily="34" charset="-120"/>
              </a:rPr>
              <a:t>Microorganismes</a:t>
            </a:r>
            <a:endParaRPr lang="en-US" sz="1200" b="1" dirty="0">
              <a:solidFill>
                <a:srgbClr val="FFFFFF"/>
              </a:solidFill>
              <a:latin typeface="Aptos" panose="020B0004020202020204" pitchFamily="34" charset="0"/>
              <a:cs typeface="Calibri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557016" y="1097280"/>
            <a:ext cx="164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E8B4E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739896" y="1097280"/>
            <a:ext cx="1554480" cy="658368"/>
          </a:xfrm>
          <a:prstGeom prst="rect">
            <a:avLst/>
          </a:prstGeom>
          <a:solidFill>
            <a:srgbClr val="D4611A"/>
          </a:solidFill>
          <a:ln/>
        </p:spPr>
        <p:txBody>
          <a:bodyPr/>
          <a:lstStyle/>
          <a:p>
            <a:endParaRPr lang="ca-ES"/>
          </a:p>
        </p:txBody>
      </p:sp>
      <p:sp>
        <p:nvSpPr>
          <p:cNvPr id="11" name="Text 9"/>
          <p:cNvSpPr/>
          <p:nvPr/>
        </p:nvSpPr>
        <p:spPr>
          <a:xfrm>
            <a:off x="3739896" y="1097280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ptos" panose="020B0004020202020204" pitchFamily="34" charset="0"/>
                <a:cs typeface="Calibri" pitchFamily="34" charset="-120"/>
              </a:rPr>
              <a:t>Descomposició (</a:t>
            </a:r>
            <a:r>
              <a:rPr lang="en-US" sz="1200" b="1" dirty="0" err="1">
                <a:solidFill>
                  <a:srgbClr val="FFFFFF"/>
                </a:solidFill>
                <a:latin typeface="Aptos" panose="020B0004020202020204" pitchFamily="34" charset="0"/>
                <a:cs typeface="Calibri" pitchFamily="34" charset="-120"/>
              </a:rPr>
              <a:t>calor</a:t>
            </a:r>
            <a:r>
              <a:rPr lang="en-US" sz="1200" b="1" dirty="0">
                <a:solidFill>
                  <a:srgbClr val="FFFFFF"/>
                </a:solidFill>
                <a:latin typeface="Aptos" panose="020B0004020202020204" pitchFamily="34" charset="0"/>
                <a:cs typeface="Calibri" pitchFamily="34" charset="-120"/>
              </a:rPr>
              <a:t>)</a:t>
            </a:r>
          </a:p>
        </p:txBody>
      </p:sp>
      <p:sp>
        <p:nvSpPr>
          <p:cNvPr id="12" name="Text 10"/>
          <p:cNvSpPr/>
          <p:nvPr/>
        </p:nvSpPr>
        <p:spPr>
          <a:xfrm>
            <a:off x="5312664" y="1097280"/>
            <a:ext cx="164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E8B4E"/>
                </a:solidFill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95544" y="1097280"/>
            <a:ext cx="1554480" cy="658368"/>
          </a:xfrm>
          <a:prstGeom prst="rect">
            <a:avLst/>
          </a:prstGeom>
          <a:solidFill>
            <a:srgbClr val="4E8B4E"/>
          </a:solidFill>
          <a:ln/>
        </p:spPr>
        <p:txBody>
          <a:bodyPr/>
          <a:lstStyle/>
          <a:p>
            <a:endParaRPr lang="ca-ES"/>
          </a:p>
        </p:txBody>
      </p:sp>
      <p:sp>
        <p:nvSpPr>
          <p:cNvPr id="14" name="Text 12"/>
          <p:cNvSpPr/>
          <p:nvPr/>
        </p:nvSpPr>
        <p:spPr>
          <a:xfrm>
            <a:off x="5495544" y="1097280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ptos" panose="020B0004020202020204" pitchFamily="34" charset="0"/>
                <a:cs typeface="Calibri" pitchFamily="34" charset="-120"/>
              </a:rPr>
              <a:t>Compost </a:t>
            </a:r>
            <a:r>
              <a:rPr lang="en-US" sz="1200" b="1" dirty="0" err="1">
                <a:solidFill>
                  <a:srgbClr val="FFFFFF"/>
                </a:solidFill>
                <a:latin typeface="Aptos" panose="020B0004020202020204" pitchFamily="34" charset="0"/>
                <a:cs typeface="Calibri" pitchFamily="34" charset="-120"/>
              </a:rPr>
              <a:t>madur</a:t>
            </a:r>
            <a:endParaRPr lang="en-US" sz="1200" b="1" dirty="0">
              <a:solidFill>
                <a:srgbClr val="FFFFFF"/>
              </a:solidFill>
              <a:latin typeface="Aptos" panose="020B0004020202020204" pitchFamily="34" charset="0"/>
              <a:cs typeface="Calibri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068312" y="1097280"/>
            <a:ext cx="164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E8B4E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251192" y="1097280"/>
            <a:ext cx="1554480" cy="658368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ca-ES"/>
          </a:p>
        </p:txBody>
      </p:sp>
      <p:sp>
        <p:nvSpPr>
          <p:cNvPr id="17" name="Text 15"/>
          <p:cNvSpPr/>
          <p:nvPr/>
        </p:nvSpPr>
        <p:spPr>
          <a:xfrm>
            <a:off x="7251192" y="1097280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ptos" panose="020B0004020202020204" pitchFamily="34" charset="0"/>
                <a:cs typeface="Calibri" pitchFamily="34" charset="-120"/>
              </a:rPr>
              <a:t>20% al substrat del </a:t>
            </a:r>
            <a:r>
              <a:rPr lang="en-US" sz="1200" b="1" dirty="0" err="1">
                <a:solidFill>
                  <a:srgbClr val="FFFFFF"/>
                </a:solidFill>
                <a:latin typeface="Aptos" panose="020B0004020202020204" pitchFamily="34" charset="0"/>
                <a:cs typeface="Calibri" pitchFamily="34" charset="-120"/>
              </a:rPr>
              <a:t>caixó</a:t>
            </a:r>
            <a:endParaRPr lang="en-US" sz="1200" b="1" dirty="0">
              <a:solidFill>
                <a:srgbClr val="FFFFFF"/>
              </a:solidFill>
              <a:latin typeface="Aptos" panose="020B0004020202020204" pitchFamily="34" charset="0"/>
              <a:cs typeface="Calibri" pitchFamily="34" charset="-12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228600" y="1965960"/>
            <a:ext cx="4114800" cy="2880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sp>
        <p:nvSpPr>
          <p:cNvPr id="19" name="Shape 17"/>
          <p:cNvSpPr/>
          <p:nvPr/>
        </p:nvSpPr>
        <p:spPr>
          <a:xfrm>
            <a:off x="228600" y="1965960"/>
            <a:ext cx="4114800" cy="36576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ca-ES" sz="2000"/>
          </a:p>
        </p:txBody>
      </p:sp>
      <p:sp>
        <p:nvSpPr>
          <p:cNvPr id="20" name="Text 18"/>
          <p:cNvSpPr/>
          <p:nvPr/>
        </p:nvSpPr>
        <p:spPr>
          <a:xfrm>
            <a:off x="228600" y="19659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SÍ — Residus vàlids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28600" y="2359152"/>
            <a:ext cx="411480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ca-ES" sz="3200"/>
          </a:p>
        </p:txBody>
      </p:sp>
      <p:sp>
        <p:nvSpPr>
          <p:cNvPr id="22" name="Text 20"/>
          <p:cNvSpPr/>
          <p:nvPr/>
        </p:nvSpPr>
        <p:spPr>
          <a:xfrm>
            <a:off x="365760" y="235915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Restes de fruita i verdura del menjador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28600" y="2743200"/>
            <a:ext cx="4114800" cy="36576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ca-ES" sz="3200"/>
          </a:p>
        </p:txBody>
      </p:sp>
      <p:sp>
        <p:nvSpPr>
          <p:cNvPr id="24" name="Text 22"/>
          <p:cNvSpPr/>
          <p:nvPr/>
        </p:nvSpPr>
        <p:spPr>
          <a:xfrm>
            <a:off x="365760" y="27432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Posos de cafè i bosses de te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28600" y="3127248"/>
            <a:ext cx="411480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ca-ES" sz="3200"/>
          </a:p>
        </p:txBody>
      </p:sp>
      <p:sp>
        <p:nvSpPr>
          <p:cNvPr id="26" name="Text 24"/>
          <p:cNvSpPr/>
          <p:nvPr/>
        </p:nvSpPr>
        <p:spPr>
          <a:xfrm>
            <a:off x="365760" y="312724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Restes de plantes de l'hort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28600" y="3511296"/>
            <a:ext cx="4114800" cy="36576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ca-ES" sz="3200"/>
          </a:p>
        </p:txBody>
      </p:sp>
      <p:sp>
        <p:nvSpPr>
          <p:cNvPr id="28" name="Text 26"/>
          <p:cNvSpPr/>
          <p:nvPr/>
        </p:nvSpPr>
        <p:spPr>
          <a:xfrm>
            <a:off x="365760" y="351129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Cartó i paper trossejat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28600" y="3895344"/>
            <a:ext cx="411480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ca-ES" sz="3200"/>
          </a:p>
        </p:txBody>
      </p:sp>
      <p:sp>
        <p:nvSpPr>
          <p:cNvPr id="30" name="Text 28"/>
          <p:cNvSpPr/>
          <p:nvPr/>
        </p:nvSpPr>
        <p:spPr>
          <a:xfrm>
            <a:off x="365760" y="389534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Serradures de fusta no tractada (del taller!)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28600" y="4279392"/>
            <a:ext cx="4114800" cy="36576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ca-ES" sz="3200"/>
          </a:p>
        </p:txBody>
      </p:sp>
      <p:sp>
        <p:nvSpPr>
          <p:cNvPr id="32" name="Text 30"/>
          <p:cNvSpPr/>
          <p:nvPr/>
        </p:nvSpPr>
        <p:spPr>
          <a:xfrm>
            <a:off x="365760" y="427939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Fulles seques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800600" y="1965960"/>
            <a:ext cx="4114800" cy="2880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sp>
        <p:nvSpPr>
          <p:cNvPr id="34" name="Shape 32"/>
          <p:cNvSpPr/>
          <p:nvPr/>
        </p:nvSpPr>
        <p:spPr>
          <a:xfrm>
            <a:off x="4800600" y="1965960"/>
            <a:ext cx="4114800" cy="365760"/>
          </a:xfrm>
          <a:prstGeom prst="rect">
            <a:avLst/>
          </a:prstGeom>
          <a:solidFill>
            <a:srgbClr val="D4611A"/>
          </a:solidFill>
          <a:ln/>
        </p:spPr>
        <p:txBody>
          <a:bodyPr/>
          <a:lstStyle/>
          <a:p>
            <a:endParaRPr lang="ca-ES" sz="2000"/>
          </a:p>
        </p:txBody>
      </p:sp>
      <p:sp>
        <p:nvSpPr>
          <p:cNvPr id="35" name="Text 33"/>
          <p:cNvSpPr/>
          <p:nvPr/>
        </p:nvSpPr>
        <p:spPr>
          <a:xfrm>
            <a:off x="4800600" y="19659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 NO — Prohibit compostar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800600" y="2359152"/>
            <a:ext cx="411480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ca-ES" sz="3200"/>
          </a:p>
        </p:txBody>
      </p:sp>
      <p:sp>
        <p:nvSpPr>
          <p:cNvPr id="37" name="Text 35"/>
          <p:cNvSpPr/>
          <p:nvPr/>
        </p:nvSpPr>
        <p:spPr>
          <a:xfrm>
            <a:off x="4937760" y="235915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Carns, peixos i marisc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800600" y="2743200"/>
            <a:ext cx="4114800" cy="365760"/>
          </a:xfrm>
          <a:prstGeom prst="rect">
            <a:avLst/>
          </a:prstGeom>
          <a:solidFill>
            <a:srgbClr val="FFF3EC"/>
          </a:solidFill>
          <a:ln/>
        </p:spPr>
        <p:txBody>
          <a:bodyPr/>
          <a:lstStyle/>
          <a:p>
            <a:endParaRPr lang="ca-ES" sz="3200"/>
          </a:p>
        </p:txBody>
      </p:sp>
      <p:sp>
        <p:nvSpPr>
          <p:cNvPr id="39" name="Text 37"/>
          <p:cNvSpPr/>
          <p:nvPr/>
        </p:nvSpPr>
        <p:spPr>
          <a:xfrm>
            <a:off x="4937760" y="27432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Productes làctics i ous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800600" y="3127248"/>
            <a:ext cx="411480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ca-ES" sz="3200"/>
          </a:p>
        </p:txBody>
      </p:sp>
      <p:sp>
        <p:nvSpPr>
          <p:cNvPr id="41" name="Text 39"/>
          <p:cNvSpPr/>
          <p:nvPr/>
        </p:nvSpPr>
        <p:spPr>
          <a:xfrm>
            <a:off x="4937760" y="312724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Olis i greixos de cuina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800600" y="3511296"/>
            <a:ext cx="4114800" cy="365760"/>
          </a:xfrm>
          <a:prstGeom prst="rect">
            <a:avLst/>
          </a:prstGeom>
          <a:solidFill>
            <a:srgbClr val="FFF3EC"/>
          </a:solidFill>
          <a:ln/>
        </p:spPr>
        <p:txBody>
          <a:bodyPr/>
          <a:lstStyle/>
          <a:p>
            <a:endParaRPr lang="ca-ES" sz="3200"/>
          </a:p>
        </p:txBody>
      </p:sp>
      <p:sp>
        <p:nvSpPr>
          <p:cNvPr id="43" name="Text 41"/>
          <p:cNvSpPr/>
          <p:nvPr/>
        </p:nvSpPr>
        <p:spPr>
          <a:xfrm>
            <a:off x="4937760" y="351129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Restes amb pesticides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800600" y="3895344"/>
            <a:ext cx="411480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ca-ES" sz="3200"/>
          </a:p>
        </p:txBody>
      </p:sp>
      <p:sp>
        <p:nvSpPr>
          <p:cNvPr id="45" name="Text 43"/>
          <p:cNvSpPr/>
          <p:nvPr/>
        </p:nvSpPr>
        <p:spPr>
          <a:xfrm>
            <a:off x="4937760" y="389534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Excrements d'animals de companyia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4800600" y="4279392"/>
            <a:ext cx="4114800" cy="365760"/>
          </a:xfrm>
          <a:prstGeom prst="rect">
            <a:avLst/>
          </a:prstGeom>
          <a:solidFill>
            <a:srgbClr val="FFF3EC"/>
          </a:solidFill>
          <a:ln/>
        </p:spPr>
        <p:txBody>
          <a:bodyPr/>
          <a:lstStyle/>
          <a:p>
            <a:endParaRPr lang="ca-ES" sz="3200"/>
          </a:p>
        </p:txBody>
      </p:sp>
      <p:sp>
        <p:nvSpPr>
          <p:cNvPr id="47" name="Text 45"/>
          <p:cNvSpPr/>
          <p:nvPr/>
        </p:nvSpPr>
        <p:spPr>
          <a:xfrm>
            <a:off x="4937760" y="427939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Fusta tractada (CCA, MB, lazurs tòxics)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B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ca-E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Criteris d'avaluació i pesos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20624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206240" cy="457200"/>
          </a:xfrm>
          <a:prstGeom prst="rect">
            <a:avLst/>
          </a:prstGeom>
          <a:solidFill>
            <a:srgbClr val="5D4037"/>
          </a:solidFill>
          <a:ln/>
        </p:spPr>
        <p:txBody>
          <a:bodyPr/>
          <a:lstStyle/>
          <a:p>
            <a:endParaRPr lang="ca-ES"/>
          </a:p>
        </p:txBody>
      </p:sp>
      <p:sp>
        <p:nvSpPr>
          <p:cNvPr id="6" name="Shape 4"/>
          <p:cNvSpPr/>
          <p:nvPr/>
        </p:nvSpPr>
        <p:spPr>
          <a:xfrm>
            <a:off x="365760" y="1106424"/>
            <a:ext cx="64008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ca-ES"/>
          </a:p>
        </p:txBody>
      </p:sp>
      <p:sp>
        <p:nvSpPr>
          <p:cNvPr id="7" name="Text 5"/>
          <p:cNvSpPr/>
          <p:nvPr/>
        </p:nvSpPr>
        <p:spPr>
          <a:xfrm>
            <a:off x="365760" y="1106424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D40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40%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78992" y="1124712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Fabricació del caixó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38912" y="1581912"/>
            <a:ext cx="3931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37474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Qualitat de la construcció (resistència)</a:t>
            </a:r>
            <a:endParaRPr lang="en-US" sz="1200" dirty="0">
              <a:latin typeface="Aptos" panose="020B0004020202020204" pitchFamily="34" charset="0"/>
            </a:endParaRPr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37474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Ajust a les dimensions del plànol</a:t>
            </a:r>
            <a:endParaRPr lang="en-US" sz="1200" dirty="0">
              <a:latin typeface="Aptos" panose="020B0004020202020204" pitchFamily="34" charset="0"/>
            </a:endParaRPr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37474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Tractament de la fusta i sostenibilitat</a:t>
            </a:r>
            <a:endParaRPr lang="en-US" sz="1200" dirty="0">
              <a:latin typeface="Aptos" panose="020B0004020202020204" pitchFamily="34" charset="0"/>
            </a:endParaRPr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37474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Drenatge i punts de connexió tecnológica</a:t>
            </a:r>
            <a:endParaRPr lang="en-US" sz="1200" dirty="0">
              <a:latin typeface="Aptos" panose="020B0004020202020204" pitchFamily="34" charset="0"/>
            </a:endParaRPr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37474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Normes de seguretat i EPI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754880" y="1051560"/>
            <a:ext cx="420624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sp>
        <p:nvSpPr>
          <p:cNvPr id="11" name="Shape 9"/>
          <p:cNvSpPr/>
          <p:nvPr/>
        </p:nvSpPr>
        <p:spPr>
          <a:xfrm>
            <a:off x="4754880" y="1051560"/>
            <a:ext cx="4206240" cy="457200"/>
          </a:xfrm>
          <a:prstGeom prst="rect">
            <a:avLst/>
          </a:prstGeom>
          <a:solidFill>
            <a:srgbClr val="4E8B4E"/>
          </a:solidFill>
          <a:ln/>
        </p:spPr>
        <p:txBody>
          <a:bodyPr/>
          <a:lstStyle/>
          <a:p>
            <a:endParaRPr lang="ca-ES"/>
          </a:p>
        </p:txBody>
      </p:sp>
      <p:sp>
        <p:nvSpPr>
          <p:cNvPr id="12" name="Shape 10"/>
          <p:cNvSpPr/>
          <p:nvPr/>
        </p:nvSpPr>
        <p:spPr>
          <a:xfrm>
            <a:off x="4846320" y="1106424"/>
            <a:ext cx="64008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ca-ES"/>
          </a:p>
        </p:txBody>
      </p:sp>
      <p:sp>
        <p:nvSpPr>
          <p:cNvPr id="13" name="Text 11"/>
          <p:cNvSpPr/>
          <p:nvPr/>
        </p:nvSpPr>
        <p:spPr>
          <a:xfrm>
            <a:off x="4846320" y="1106424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E8B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20%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559552" y="1124712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FFFFFF"/>
                </a:solidFill>
                <a:latin typeface="Aptos" panose="020B0004020202020204" pitchFamily="34" charset="0"/>
                <a:cs typeface="Calibri" pitchFamily="34" charset="-120"/>
              </a:rPr>
              <a:t>Investigació </a:t>
            </a:r>
            <a:r>
              <a:rPr lang="en-US" sz="1400" b="1" dirty="0" err="1">
                <a:solidFill>
                  <a:srgbClr val="FFFFFF"/>
                </a:solidFill>
                <a:latin typeface="Aptos" panose="020B0004020202020204" pitchFamily="34" charset="0"/>
                <a:cs typeface="Calibri" pitchFamily="34" charset="-120"/>
              </a:rPr>
              <a:t>i</a:t>
            </a:r>
            <a:r>
              <a:rPr lang="en-US" sz="1400" b="1" dirty="0">
                <a:solidFill>
                  <a:srgbClr val="FFFFFF"/>
                </a:solidFill>
                <a:latin typeface="Aptos" panose="020B0004020202020204" pitchFamily="34" charset="0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FFFFFF"/>
                </a:solidFill>
                <a:latin typeface="Aptos" panose="020B0004020202020204" pitchFamily="34" charset="0"/>
                <a:cs typeface="Calibri" pitchFamily="34" charset="-120"/>
              </a:rPr>
              <a:t>disseny</a:t>
            </a:r>
            <a:endParaRPr lang="en-US" sz="1400" b="1" dirty="0">
              <a:solidFill>
                <a:srgbClr val="FFFFFF"/>
              </a:solidFill>
              <a:latin typeface="Aptos" panose="020B0004020202020204" pitchFamily="34" charset="0"/>
              <a:cs typeface="Calibri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919472" y="1581912"/>
            <a:ext cx="3931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37474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Plànol acotat (3 vistes, escala, cotes)</a:t>
            </a:r>
            <a:endParaRPr lang="en-US" sz="1200" dirty="0">
              <a:latin typeface="Aptos" panose="020B0004020202020204" pitchFamily="34" charset="0"/>
            </a:endParaRPr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37474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Llista de materials i pressupost</a:t>
            </a:r>
            <a:endParaRPr lang="en-US" sz="1200" dirty="0">
              <a:latin typeface="Aptos" panose="020B0004020202020204" pitchFamily="34" charset="0"/>
            </a:endParaRPr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37474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Diagrama de Gantt / planificació</a:t>
            </a:r>
            <a:endParaRPr lang="en-US" sz="1200" dirty="0">
              <a:latin typeface="Aptos" panose="020B0004020202020204" pitchFamily="34" charset="0"/>
            </a:endParaRPr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37474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Justificació de les decisions de disseny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274320" y="2990088"/>
            <a:ext cx="420624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sp>
        <p:nvSpPr>
          <p:cNvPr id="17" name="Shape 15"/>
          <p:cNvSpPr/>
          <p:nvPr/>
        </p:nvSpPr>
        <p:spPr>
          <a:xfrm>
            <a:off x="274320" y="2990088"/>
            <a:ext cx="4206240" cy="45720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ca-ES"/>
          </a:p>
        </p:txBody>
      </p:sp>
      <p:sp>
        <p:nvSpPr>
          <p:cNvPr id="18" name="Shape 16"/>
          <p:cNvSpPr/>
          <p:nvPr/>
        </p:nvSpPr>
        <p:spPr>
          <a:xfrm>
            <a:off x="365760" y="3044952"/>
            <a:ext cx="64008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ca-ES"/>
          </a:p>
        </p:txBody>
      </p:sp>
      <p:sp>
        <p:nvSpPr>
          <p:cNvPr id="19" name="Text 17"/>
          <p:cNvSpPr/>
          <p:nvPr/>
        </p:nvSpPr>
        <p:spPr>
          <a:xfrm>
            <a:off x="365760" y="304495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565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20%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78992" y="306324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 err="1">
                <a:solidFill>
                  <a:srgbClr val="FFFFFF"/>
                </a:solidFill>
                <a:latin typeface="Aptos" panose="020B0004020202020204" pitchFamily="34" charset="0"/>
                <a:cs typeface="Calibri" pitchFamily="34" charset="-120"/>
              </a:rPr>
              <a:t>Integració</a:t>
            </a:r>
            <a:r>
              <a:rPr lang="en-US" sz="1400" b="1" dirty="0">
                <a:solidFill>
                  <a:srgbClr val="FFFFFF"/>
                </a:solidFill>
                <a:latin typeface="Aptos" panose="020B0004020202020204" pitchFamily="34" charset="0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FFFFFF"/>
                </a:solidFill>
                <a:latin typeface="Aptos" panose="020B0004020202020204" pitchFamily="34" charset="0"/>
                <a:cs typeface="Calibri" pitchFamily="34" charset="-120"/>
              </a:rPr>
              <a:t>tecnológica</a:t>
            </a:r>
            <a:endParaRPr lang="en-US" sz="1400" b="1" dirty="0">
              <a:solidFill>
                <a:srgbClr val="FFFFFF"/>
              </a:solidFill>
              <a:latin typeface="Aptos" panose="020B0004020202020204" pitchFamily="34" charset="0"/>
              <a:cs typeface="Calibri" pitchFamily="34" charset="-12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38912" y="3520440"/>
            <a:ext cx="3931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37474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Passacables correctament executats</a:t>
            </a:r>
            <a:endParaRPr lang="en-US" sz="1200" dirty="0">
              <a:latin typeface="Aptos" panose="020B0004020202020204" pitchFamily="34" charset="0"/>
            </a:endParaRPr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37474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Instal·lació sensor d'humitat</a:t>
            </a:r>
            <a:endParaRPr lang="en-US" sz="1200" dirty="0">
              <a:latin typeface="Aptos" panose="020B0004020202020204" pitchFamily="34" charset="0"/>
            </a:endParaRPr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37474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Connexió tub de reg per degoteig</a:t>
            </a:r>
            <a:endParaRPr lang="en-US" sz="1200" dirty="0">
              <a:latin typeface="Aptos" panose="020B0004020202020204" pitchFamily="34" charset="0"/>
            </a:endParaRPr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37474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Prova de funcionament del sistema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754880" y="2990088"/>
            <a:ext cx="420624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sp>
        <p:nvSpPr>
          <p:cNvPr id="23" name="Shape 21"/>
          <p:cNvSpPr/>
          <p:nvPr/>
        </p:nvSpPr>
        <p:spPr>
          <a:xfrm>
            <a:off x="4754880" y="2990088"/>
            <a:ext cx="4206240" cy="457200"/>
          </a:xfrm>
          <a:prstGeom prst="rect">
            <a:avLst/>
          </a:prstGeom>
          <a:solidFill>
            <a:srgbClr val="7B5EA7"/>
          </a:solidFill>
          <a:ln/>
        </p:spPr>
        <p:txBody>
          <a:bodyPr/>
          <a:lstStyle/>
          <a:p>
            <a:endParaRPr lang="ca-ES"/>
          </a:p>
        </p:txBody>
      </p:sp>
      <p:sp>
        <p:nvSpPr>
          <p:cNvPr id="24" name="Shape 22"/>
          <p:cNvSpPr/>
          <p:nvPr/>
        </p:nvSpPr>
        <p:spPr>
          <a:xfrm>
            <a:off x="4846320" y="3044952"/>
            <a:ext cx="64008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ca-ES"/>
          </a:p>
        </p:txBody>
      </p:sp>
      <p:sp>
        <p:nvSpPr>
          <p:cNvPr id="25" name="Text 23"/>
          <p:cNvSpPr/>
          <p:nvPr/>
        </p:nvSpPr>
        <p:spPr>
          <a:xfrm>
            <a:off x="4846320" y="304495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B5E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20%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559552" y="306324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FFFFFF"/>
                </a:solidFill>
                <a:latin typeface="Aptos" panose="020B0004020202020204" pitchFamily="34" charset="0"/>
                <a:cs typeface="Calibri" pitchFamily="34" charset="-120"/>
              </a:rPr>
              <a:t>Memòria + </a:t>
            </a:r>
            <a:r>
              <a:rPr lang="en-US" sz="1400" b="1" dirty="0" err="1">
                <a:solidFill>
                  <a:srgbClr val="FFFFFF"/>
                </a:solidFill>
                <a:latin typeface="Aptos" panose="020B0004020202020204" pitchFamily="34" charset="0"/>
                <a:cs typeface="Calibri" pitchFamily="34" charset="-120"/>
              </a:rPr>
              <a:t>Actitud</a:t>
            </a:r>
            <a:endParaRPr lang="en-US" sz="1400" b="1" dirty="0">
              <a:solidFill>
                <a:srgbClr val="FFFFFF"/>
              </a:solidFill>
              <a:latin typeface="Aptos" panose="020B0004020202020204" pitchFamily="34" charset="0"/>
              <a:cs typeface="Calibri" pitchFamily="34" charset="-12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919472" y="3520440"/>
            <a:ext cx="3931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37474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Memòria tècnica (procés + fotos + reflexió)</a:t>
            </a:r>
            <a:endParaRPr lang="en-US" sz="1200" dirty="0">
              <a:latin typeface="Aptos" panose="020B0004020202020204" pitchFamily="34" charset="0"/>
            </a:endParaRPr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37474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Presentació oral clara i estructurada</a:t>
            </a:r>
            <a:endParaRPr lang="en-US" sz="1200" dirty="0">
              <a:latin typeface="Aptos" panose="020B0004020202020204" pitchFamily="34" charset="0"/>
            </a:endParaRPr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37474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Treball cooperatiu i distribució de rols</a:t>
            </a:r>
            <a:endParaRPr lang="en-US" sz="1200" dirty="0">
              <a:latin typeface="Aptos" panose="020B0004020202020204" pitchFamily="34" charset="0"/>
            </a:endParaRPr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37474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Ordre i neteja al taller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274320" y="4709160"/>
            <a:ext cx="8595360" cy="292608"/>
          </a:xfrm>
          <a:prstGeom prst="rect">
            <a:avLst/>
          </a:prstGeom>
          <a:solidFill>
            <a:srgbClr val="C8E6C9"/>
          </a:solidFill>
          <a:ln/>
        </p:spPr>
        <p:txBody>
          <a:bodyPr/>
          <a:lstStyle/>
          <a:p>
            <a:endParaRPr lang="ca-ES" sz="2400"/>
          </a:p>
        </p:txBody>
      </p:sp>
      <p:sp>
        <p:nvSpPr>
          <p:cNvPr id="29" name="Text 27"/>
          <p:cNvSpPr/>
          <p:nvPr/>
        </p:nvSpPr>
        <p:spPr>
          <a:xfrm>
            <a:off x="365760" y="470916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5F2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💡  La memòria tècnica és obligatòria per a superar el projecte. Sense memòria entregada, no s'avalua el caixó.</a:t>
            </a:r>
            <a:endParaRPr lang="en-US" sz="110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E8B4E"/>
          </a:solidFill>
          <a:ln/>
        </p:spPr>
        <p:txBody>
          <a:bodyPr/>
          <a:lstStyle/>
          <a:p>
            <a:endParaRPr lang="ca-ES"/>
          </a:p>
        </p:txBody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ca-E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90000"/>
          </a:blip>
          <a:stretch>
            <a:fillRect/>
          </a:stretch>
        </p:blipFill>
        <p:spPr>
          <a:xfrm>
            <a:off x="6400800" y="731520"/>
            <a:ext cx="2377440" cy="2377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84048" y="73152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Ara és el vostre torn!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384048" y="16002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6AA86A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Dissenyeu · Construïu · Automatitzeu · Colliu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384048" y="228600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AA86A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✓ Plànol tècnic acotat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2990088" y="228600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AA86A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✓ Visita a l'ecoparc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384048" y="274320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AA86A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✓ Caixó de fusta reciclada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2990088" y="274320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AA86A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✓ Passacables i drenatge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384048" y="320040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5D6A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✓ Sensors d'humitat + reg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2990088" y="320040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5D6A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✓ Compost madur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384048" y="365760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5D6A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✓ Memòria tècnica final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ca-ES"/>
          </a:p>
        </p:txBody>
      </p:sp>
      <p:sp>
        <p:nvSpPr>
          <p:cNvPr id="15" name="Text 12"/>
          <p:cNvSpPr/>
          <p:nvPr/>
        </p:nvSpPr>
        <p:spPr>
          <a:xfrm>
            <a:off x="384048" y="4800600"/>
            <a:ext cx="8412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8E6C9"/>
                </a:solidFill>
              </a:rPr>
              <a:t>Departament de Tecnologia  ·  Tecnologia 4t ESO  ·  Comunitat Valenciana  ·  Curs 2025-2026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l'Office">
  <a:themeElements>
    <a:clrScheme name="Oficina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icina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icin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1400</Words>
  <Application>Microsoft Office PowerPoint</Application>
  <PresentationFormat>Presentació en pantalla (16:9)</PresentationFormat>
  <Paragraphs>291</Paragraphs>
  <Slides>12</Slides>
  <Notes>12</Notes>
  <HiddenSlides>0</HiddenSlides>
  <MMClips>0</MMClips>
  <ScaleCrop>false</ScaleCrop>
  <HeadingPairs>
    <vt:vector size="6" baseType="variant">
      <vt:variant>
        <vt:lpstr>Tipus de lletra utilitzats</vt:lpstr>
      </vt:variant>
      <vt:variant>
        <vt:i4>5</vt:i4>
      </vt:variant>
      <vt:variant>
        <vt:lpstr>Tema</vt:lpstr>
      </vt:variant>
      <vt:variant>
        <vt:i4>1</vt:i4>
      </vt:variant>
      <vt:variant>
        <vt:lpstr>Títols de les diapositives</vt:lpstr>
      </vt:variant>
      <vt:variant>
        <vt:i4>12</vt:i4>
      </vt:variant>
    </vt:vector>
  </HeadingPairs>
  <TitlesOfParts>
    <vt:vector size="18" baseType="lpstr">
      <vt:lpstr>Aptos</vt:lpstr>
      <vt:lpstr>Arial</vt:lpstr>
      <vt:lpstr>Calibri</vt:lpstr>
      <vt:lpstr>Consolas</vt:lpstr>
      <vt:lpstr>Georgia</vt:lpstr>
      <vt:lpstr>Office Theme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Hort Escolar — Caixons de Fusta Reciclada</dc:title>
  <dc:subject>PptxGenJS Presentation</dc:subject>
  <dc:creator>Departament de Tecnologia</dc:creator>
  <cp:lastModifiedBy>Jesus Pineda Escriva</cp:lastModifiedBy>
  <cp:revision>8</cp:revision>
  <dcterms:created xsi:type="dcterms:W3CDTF">2026-05-13T06:14:42Z</dcterms:created>
  <dcterms:modified xsi:type="dcterms:W3CDTF">2026-05-25T07:07:57Z</dcterms:modified>
</cp:coreProperties>
</file>