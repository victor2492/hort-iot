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45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Shape 1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44" name="Text 42"/>
          <p:cNvSpPr/>
          <p:nvPr/>
        </p:nvSpPr>
        <p:spPr>
          <a:xfrm>
            <a:off x="411480" y="457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 D'APRENENTATGE · TECNOLOGIA 4t ESO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" y="8686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Disseny i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411480" y="15544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Impressió 3D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411480" y="23957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Reixes de Drenatge per a l'Hort Escolar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11480" y="3017520"/>
            <a:ext cx="1554480" cy="329184"/>
          </a:xfrm>
          <a:prstGeom prst="rect">
            <a:avLst/>
          </a:prstGeom>
          <a:solidFill>
            <a:srgbClr val="1B3A5C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9" name="Text 47"/>
          <p:cNvSpPr/>
          <p:nvPr/>
        </p:nvSpPr>
        <p:spPr>
          <a:xfrm>
            <a:off x="411480" y="3017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</a:t>
            </a:r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FDM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075688" y="3017520"/>
            <a:ext cx="1554480" cy="329184"/>
          </a:xfrm>
          <a:prstGeom prst="rect">
            <a:avLst/>
          </a:prstGeom>
          <a:solidFill>
            <a:srgbClr val="1B3A5C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1" name="Text 49"/>
          <p:cNvSpPr/>
          <p:nvPr/>
        </p:nvSpPr>
        <p:spPr>
          <a:xfrm>
            <a:off x="2075688" y="3017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</a:t>
            </a:r>
            <a:r>
              <a:rPr lang="en-US" sz="1200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TinkerCAD</a:t>
            </a:r>
            <a:endParaRPr lang="en-US" sz="1200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739896" y="3017520"/>
            <a:ext cx="1554480" cy="329184"/>
          </a:xfrm>
          <a:prstGeom prst="rect">
            <a:avLst/>
          </a:prstGeom>
          <a:solidFill>
            <a:srgbClr val="1B3A5C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3" name="Text 51"/>
          <p:cNvSpPr/>
          <p:nvPr/>
        </p:nvSpPr>
        <p:spPr>
          <a:xfrm>
            <a:off x="3739896" y="3017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</a:t>
            </a:r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PLA</a:t>
            </a:r>
          </a:p>
        </p:txBody>
      </p:sp>
      <p:sp>
        <p:nvSpPr>
          <p:cNvPr id="54" name="Shape 52"/>
          <p:cNvSpPr/>
          <p:nvPr/>
        </p:nvSpPr>
        <p:spPr>
          <a:xfrm>
            <a:off x="5404104" y="3017520"/>
            <a:ext cx="1554480" cy="329184"/>
          </a:xfrm>
          <a:prstGeom prst="rect">
            <a:avLst/>
          </a:prstGeom>
          <a:solidFill>
            <a:srgbClr val="1B3A5C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5" name="Text 53"/>
          <p:cNvSpPr/>
          <p:nvPr/>
        </p:nvSpPr>
        <p:spPr>
          <a:xfrm>
            <a:off x="5404104" y="3017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</a:t>
            </a:r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CAD</a:t>
            </a:r>
          </a:p>
        </p:txBody>
      </p:sp>
      <p:sp>
        <p:nvSpPr>
          <p:cNvPr id="56" name="Shape 54"/>
          <p:cNvSpPr/>
          <p:nvPr/>
        </p:nvSpPr>
        <p:spPr>
          <a:xfrm>
            <a:off x="7068312" y="3017520"/>
            <a:ext cx="1554480" cy="329184"/>
          </a:xfrm>
          <a:prstGeom prst="rect">
            <a:avLst/>
          </a:prstGeom>
          <a:solidFill>
            <a:srgbClr val="1B3A5C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7" name="Text 55"/>
          <p:cNvSpPr/>
          <p:nvPr/>
        </p:nvSpPr>
        <p:spPr>
          <a:xfrm>
            <a:off x="7068312" y="3017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</a:t>
            </a:r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Modular</a:t>
            </a:r>
          </a:p>
        </p:txBody>
      </p:sp>
      <p:sp>
        <p:nvSpPr>
          <p:cNvPr id="58" name="Shape 5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59" name="Text 5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sessions × 55 min  ·  SA </a:t>
            </a:r>
            <a:r>
              <a:rPr lang="en-US" sz="9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Disseny</a:t>
            </a: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Drenatge</a:t>
            </a: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Hort Escolar Tecnològic  ·  Curs 2025-2026</a:t>
            </a:r>
            <a:endParaRPr lang="en-US" sz="900" dirty="0"/>
          </a:p>
        </p:txBody>
      </p:sp>
      <p:sp>
        <p:nvSpPr>
          <p:cNvPr id="60" name="Hexàgon 59">
            <a:extLst>
              <a:ext uri="{FF2B5EF4-FFF2-40B4-BE49-F238E27FC236}">
                <a16:creationId xmlns:a16="http://schemas.microsoft.com/office/drawing/2014/main" id="{E964D0A4-AE62-8C35-7C62-3C9F8D8F6ACC}"/>
              </a:ext>
            </a:extLst>
          </p:cNvPr>
          <p:cNvSpPr/>
          <p:nvPr/>
        </p:nvSpPr>
        <p:spPr>
          <a:xfrm>
            <a:off x="7347205" y="1565529"/>
            <a:ext cx="425195" cy="380238"/>
          </a:xfrm>
          <a:prstGeom prst="hexagon">
            <a:avLst/>
          </a:prstGeom>
          <a:solidFill>
            <a:srgbClr val="00B4D8"/>
          </a:solidFill>
          <a:ln w="190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61" name="Hexàgon 60">
            <a:extLst>
              <a:ext uri="{FF2B5EF4-FFF2-40B4-BE49-F238E27FC236}">
                <a16:creationId xmlns:a16="http://schemas.microsoft.com/office/drawing/2014/main" id="{DF770EBD-CCE1-D230-5D7E-D7E831F6F2F2}"/>
              </a:ext>
            </a:extLst>
          </p:cNvPr>
          <p:cNvSpPr/>
          <p:nvPr/>
        </p:nvSpPr>
        <p:spPr>
          <a:xfrm>
            <a:off x="6613400" y="1203579"/>
            <a:ext cx="425195" cy="380238"/>
          </a:xfrm>
          <a:prstGeom prst="hexagon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2" name="Hexàgon 61">
            <a:extLst>
              <a:ext uri="{FF2B5EF4-FFF2-40B4-BE49-F238E27FC236}">
                <a16:creationId xmlns:a16="http://schemas.microsoft.com/office/drawing/2014/main" id="{30CDB6CF-2B7F-9413-CD97-7B90E312C353}"/>
              </a:ext>
            </a:extLst>
          </p:cNvPr>
          <p:cNvSpPr/>
          <p:nvPr/>
        </p:nvSpPr>
        <p:spPr>
          <a:xfrm>
            <a:off x="6613400" y="1926337"/>
            <a:ext cx="425195" cy="380238"/>
          </a:xfrm>
          <a:prstGeom prst="hexagon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3" name="Hexàgon 62">
            <a:extLst>
              <a:ext uri="{FF2B5EF4-FFF2-40B4-BE49-F238E27FC236}">
                <a16:creationId xmlns:a16="http://schemas.microsoft.com/office/drawing/2014/main" id="{F000CC25-626E-4D48-9C98-69E2C1E9070A}"/>
              </a:ext>
            </a:extLst>
          </p:cNvPr>
          <p:cNvSpPr/>
          <p:nvPr/>
        </p:nvSpPr>
        <p:spPr>
          <a:xfrm>
            <a:off x="8078727" y="1203579"/>
            <a:ext cx="425195" cy="380238"/>
          </a:xfrm>
          <a:prstGeom prst="hexagon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4" name="Hexàgon 63">
            <a:extLst>
              <a:ext uri="{FF2B5EF4-FFF2-40B4-BE49-F238E27FC236}">
                <a16:creationId xmlns:a16="http://schemas.microsoft.com/office/drawing/2014/main" id="{C758540D-58F6-4B8F-F8BC-790943BCE34C}"/>
              </a:ext>
            </a:extLst>
          </p:cNvPr>
          <p:cNvSpPr/>
          <p:nvPr/>
        </p:nvSpPr>
        <p:spPr>
          <a:xfrm>
            <a:off x="8078727" y="1926337"/>
            <a:ext cx="425195" cy="380238"/>
          </a:xfrm>
          <a:prstGeom prst="hexagon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5" name="Hexàgon 64">
            <a:extLst>
              <a:ext uri="{FF2B5EF4-FFF2-40B4-BE49-F238E27FC236}">
                <a16:creationId xmlns:a16="http://schemas.microsoft.com/office/drawing/2014/main" id="{F1E42D07-52FE-152A-5B52-1DB974ED6EA2}"/>
              </a:ext>
            </a:extLst>
          </p:cNvPr>
          <p:cNvSpPr/>
          <p:nvPr/>
        </p:nvSpPr>
        <p:spPr>
          <a:xfrm>
            <a:off x="7344922" y="834009"/>
            <a:ext cx="425195" cy="380238"/>
          </a:xfrm>
          <a:prstGeom prst="hexagon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6" name="Hexàgon 65">
            <a:extLst>
              <a:ext uri="{FF2B5EF4-FFF2-40B4-BE49-F238E27FC236}">
                <a16:creationId xmlns:a16="http://schemas.microsoft.com/office/drawing/2014/main" id="{EEC142D9-CE14-4BD9-A5FE-E099C5889EA7}"/>
              </a:ext>
            </a:extLst>
          </p:cNvPr>
          <p:cNvSpPr/>
          <p:nvPr/>
        </p:nvSpPr>
        <p:spPr>
          <a:xfrm>
            <a:off x="7344922" y="2311526"/>
            <a:ext cx="425195" cy="380238"/>
          </a:xfrm>
          <a:prstGeom prst="hexagon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Què és la impressió 3D? Com funciona?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011680" cy="356616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0116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402336" y="12252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 Model digital (CAD)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17556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Dissenyem la peça en un software CAD (TinkerCAD, FreeCAD...) i l'exportem com a fitxer STL.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61032" y="2560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AFC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32304" y="1097280"/>
            <a:ext cx="2011680" cy="356616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2432304" y="1097280"/>
            <a:ext cx="201168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Text 9"/>
          <p:cNvSpPr/>
          <p:nvPr/>
        </p:nvSpPr>
        <p:spPr>
          <a:xfrm>
            <a:off x="2578608" y="12252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2. Laminat (Slicing)</a:t>
            </a:r>
          </a:p>
        </p:txBody>
      </p:sp>
      <p:sp>
        <p:nvSpPr>
          <p:cNvPr id="12" name="Text 10"/>
          <p:cNvSpPr/>
          <p:nvPr/>
        </p:nvSpPr>
        <p:spPr>
          <a:xfrm>
            <a:off x="2560320" y="1572768"/>
            <a:ext cx="17556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Un slicer (Cura, PrusaSlicer) talla el model en capes de 0,1-0,3mm i genera el G-code.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37304" y="2560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AFC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08576" y="1097280"/>
            <a:ext cx="2011680" cy="356616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4608576" y="1097280"/>
            <a:ext cx="201168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6" name="Text 14"/>
          <p:cNvSpPr/>
          <p:nvPr/>
        </p:nvSpPr>
        <p:spPr>
          <a:xfrm>
            <a:off x="4754880" y="12252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3.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Impressió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FDM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36592" y="1572768"/>
            <a:ext cx="17556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 impressora fon el filament (PLA, 200°C) i el diposita capa a capa fins a crear la peça.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13576" y="2560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AFC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84848" y="1097280"/>
            <a:ext cx="2011680" cy="356616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6784848" y="1097280"/>
            <a:ext cx="2011680" cy="45720"/>
          </a:xfrm>
          <a:prstGeom prst="rect">
            <a:avLst/>
          </a:prstGeom>
          <a:solidFill>
            <a:srgbClr val="7CAFC2"/>
          </a:solidFill>
          <a:ln w="12700">
            <a:solidFill>
              <a:srgbClr val="7CAFC2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Text 19"/>
          <p:cNvSpPr/>
          <p:nvPr/>
        </p:nvSpPr>
        <p:spPr>
          <a:xfrm>
            <a:off x="6931152" y="12252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4. Post-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processament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12864" y="1572768"/>
            <a:ext cx="17556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Retirar la peça, eliminar suports si n'hi ha, llimar si cal. La peça és funcional!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032" y="4754880"/>
            <a:ext cx="8631936" cy="292608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2-4h per mòdul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76272" y="4754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~90g de PLA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95344" y="4754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~1,35€ per mòdul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14416" y="4754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PLA = bioplàstic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3488" y="4754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200-215°C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El nostre repte: la reixa de drenatge modular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4023360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023360" cy="45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🎯</a:t>
            </a:r>
            <a:r>
              <a:rPr lang="en-US" sz="2000" b="1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El problema a resoldre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 Els caixons de fusta necessiten drenatge a la base.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206654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 Els llistons de fusta poden cedir amb la humitat i el pes del substrat.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259689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 Volem una peça precisa, duradora i personalitzada.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4048" y="312724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 Ha d'integrar el sensor d'humitat i el tub de reg.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36576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 Ha de ser fabricable per qualsevol grup de l'aula.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33088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33088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4" name="Text 12"/>
          <p:cNvSpPr/>
          <p:nvPr/>
        </p:nvSpPr>
        <p:spPr>
          <a:xfrm>
            <a:off x="4882896" y="114300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2400" b="1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La nostra solució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82896" y="148132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Reixa modular 4×(190×90mm)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82896" y="16824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peces encaixables per caixó estàndard.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82896" y="199339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Patró hexagonal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82896" y="219456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&gt;42% àrea de drenatge, màxima resistència.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82896" y="250545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Potes standoff 5mm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82896" y="270662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Flux d'aigua per davall de la reixa.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82896" y="301752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Connector macho-femella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82896" y="321868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Encaix estable entre els 4 mòduls.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82896" y="352958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Canal guia del sensor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82896" y="373075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Cable del sensor passa per la reixa.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82896" y="404164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Text personalitzat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82896" y="424281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Gravat en relleu: curs i grup de l'alumne.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Planificació: 14 sessions en 4 blocs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2011680" cy="4005072"/>
          </a:xfrm>
          <a:prstGeom prst="rect">
            <a:avLst/>
          </a:prstGeom>
          <a:solidFill>
            <a:srgbClr val="13223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011680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 sz="280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9184" y="101498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BLOC 1 · S1-S3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" y="121615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Introducció i disseny a mà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S1: La impressió 3D i el nostre repte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S2: Anàlisi de requeriments + esbós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5511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S3: Del 2D al 3D: conceptes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32304" y="960120"/>
            <a:ext cx="2011680" cy="4005072"/>
          </a:xfrm>
          <a:prstGeom prst="rect">
            <a:avLst/>
          </a:prstGeom>
          <a:solidFill>
            <a:srgbClr val="13223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2" name="Shape 10"/>
          <p:cNvSpPr/>
          <p:nvPr/>
        </p:nvSpPr>
        <p:spPr>
          <a:xfrm>
            <a:off x="2432304" y="960120"/>
            <a:ext cx="201168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 sz="280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05456" y="101498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BLOC 2 · S4-S8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05456" y="121615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Disseny 3D amb TinkerCAD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2032" y="15270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S4: Interfície i primeres formes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42032" y="203911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S5: Operació boolean (forats)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42032" y="25511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S6: Patró hexagonal complet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42032" y="30632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S7: Connector + personalització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42032" y="35753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S8: Verificació + exportació STL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08576" y="960120"/>
            <a:ext cx="2011680" cy="4005072"/>
          </a:xfrm>
          <a:prstGeom prst="rect">
            <a:avLst/>
          </a:prstGeom>
          <a:solidFill>
            <a:srgbClr val="132235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Shape 19"/>
          <p:cNvSpPr/>
          <p:nvPr/>
        </p:nvSpPr>
        <p:spPr>
          <a:xfrm>
            <a:off x="4608576" y="960120"/>
            <a:ext cx="2011680" cy="47548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ca-ES" sz="28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81728" y="101498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BLOC 3 · S9-S11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81728" y="121615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Laminat i impressió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18304" y="15270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S9: Cura/PrusaSlicer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18304" y="203911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S10: Paràmetres + enviament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18304" y="25511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S11: Post-processament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84848" y="960120"/>
            <a:ext cx="2011680" cy="4005072"/>
          </a:xfrm>
          <a:prstGeom prst="rect">
            <a:avLst/>
          </a:prstGeom>
          <a:solidFill>
            <a:srgbClr val="132235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8" name="Shape 26"/>
          <p:cNvSpPr/>
          <p:nvPr/>
        </p:nvSpPr>
        <p:spPr>
          <a:xfrm>
            <a:off x="6784848" y="960120"/>
            <a:ext cx="2011680" cy="47548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 sz="28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101498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BLOC 4 · S12-S14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58000" y="121615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Validació i avaluació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94576" y="15270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S12: Proves funcionals + iteració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94576" y="203911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S13: Memòria tècnica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94576" y="25511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S14: Presentació final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 — Disseny a mà alçada: el plànol tècnic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4754880" cy="3767328"/>
          </a:xfrm>
          <a:prstGeom prst="rect">
            <a:avLst/>
          </a:prstGeom>
          <a:solidFill>
            <a:srgbClr val="F8F6F0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8" name="Shape 6"/>
          <p:cNvSpPr/>
          <p:nvPr/>
        </p:nvSpPr>
        <p:spPr>
          <a:xfrm>
            <a:off x="256032" y="1426464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Shape 7"/>
          <p:cNvSpPr/>
          <p:nvPr/>
        </p:nvSpPr>
        <p:spPr>
          <a:xfrm>
            <a:off x="1207008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256032" y="1801368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Shape 9"/>
          <p:cNvSpPr/>
          <p:nvPr/>
        </p:nvSpPr>
        <p:spPr>
          <a:xfrm>
            <a:off x="1682496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2" name="Shape 10"/>
          <p:cNvSpPr/>
          <p:nvPr/>
        </p:nvSpPr>
        <p:spPr>
          <a:xfrm>
            <a:off x="256032" y="2176272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3" name="Shape 11"/>
          <p:cNvSpPr/>
          <p:nvPr/>
        </p:nvSpPr>
        <p:spPr>
          <a:xfrm>
            <a:off x="2157984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4" name="Shape 12"/>
          <p:cNvSpPr/>
          <p:nvPr/>
        </p:nvSpPr>
        <p:spPr>
          <a:xfrm>
            <a:off x="256032" y="2551176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2633472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6" name="Shape 14"/>
          <p:cNvSpPr/>
          <p:nvPr/>
        </p:nvSpPr>
        <p:spPr>
          <a:xfrm>
            <a:off x="256032" y="2926080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Shape 15"/>
          <p:cNvSpPr/>
          <p:nvPr/>
        </p:nvSpPr>
        <p:spPr>
          <a:xfrm>
            <a:off x="3108960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Shape 16"/>
          <p:cNvSpPr/>
          <p:nvPr/>
        </p:nvSpPr>
        <p:spPr>
          <a:xfrm>
            <a:off x="256032" y="3300984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9" name="Shape 17"/>
          <p:cNvSpPr/>
          <p:nvPr/>
        </p:nvSpPr>
        <p:spPr>
          <a:xfrm>
            <a:off x="3584448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256032" y="3675888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Shape 19"/>
          <p:cNvSpPr/>
          <p:nvPr/>
        </p:nvSpPr>
        <p:spPr>
          <a:xfrm>
            <a:off x="4059936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2" name="Shape 20"/>
          <p:cNvSpPr/>
          <p:nvPr/>
        </p:nvSpPr>
        <p:spPr>
          <a:xfrm>
            <a:off x="256032" y="4050792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3" name="Shape 21"/>
          <p:cNvSpPr/>
          <p:nvPr/>
        </p:nvSpPr>
        <p:spPr>
          <a:xfrm>
            <a:off x="4535424" y="1051560"/>
            <a:ext cx="0" cy="3767328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Shape 22"/>
          <p:cNvSpPr/>
          <p:nvPr/>
        </p:nvSpPr>
        <p:spPr>
          <a:xfrm>
            <a:off x="256032" y="4425696"/>
            <a:ext cx="4754880" cy="0"/>
          </a:xfrm>
          <a:prstGeom prst="line">
            <a:avLst/>
          </a:prstGeom>
          <a:noFill/>
          <a:ln w="3810">
            <a:solidFill>
              <a:srgbClr val="CCCCC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5" name="Shape 23"/>
          <p:cNvSpPr/>
          <p:nvPr/>
        </p:nvSpPr>
        <p:spPr>
          <a:xfrm>
            <a:off x="548640" y="1280160"/>
            <a:ext cx="3200400" cy="1554480"/>
          </a:xfrm>
          <a:prstGeom prst="rect">
            <a:avLst/>
          </a:prstGeom>
          <a:solidFill>
            <a:srgbClr val="E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1" name="Shape 39"/>
          <p:cNvSpPr/>
          <p:nvPr/>
        </p:nvSpPr>
        <p:spPr>
          <a:xfrm>
            <a:off x="548640" y="1207008"/>
            <a:ext cx="3200400" cy="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2" name="Text 40"/>
          <p:cNvSpPr/>
          <p:nvPr/>
        </p:nvSpPr>
        <p:spPr>
          <a:xfrm>
            <a:off x="123444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190mm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" y="1280160"/>
            <a:ext cx="0" cy="155448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4" name="Text 42"/>
          <p:cNvSpPr/>
          <p:nvPr/>
        </p:nvSpPr>
        <p:spPr>
          <a:xfrm>
            <a:off x="109728" y="1920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017520"/>
            <a:ext cx="3200400" cy="457200"/>
          </a:xfrm>
          <a:prstGeom prst="rect">
            <a:avLst/>
          </a:prstGeom>
          <a:solidFill>
            <a:srgbClr val="DDDDDD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6" name="Shape 44"/>
          <p:cNvSpPr/>
          <p:nvPr/>
        </p:nvSpPr>
        <p:spPr>
          <a:xfrm>
            <a:off x="594360" y="3456432"/>
            <a:ext cx="228600" cy="228600"/>
          </a:xfrm>
          <a:prstGeom prst="rect">
            <a:avLst/>
          </a:prstGeom>
          <a:solidFill>
            <a:srgbClr val="999999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7" name="Shape 45"/>
          <p:cNvSpPr/>
          <p:nvPr/>
        </p:nvSpPr>
        <p:spPr>
          <a:xfrm>
            <a:off x="3474720" y="3456432"/>
            <a:ext cx="228600" cy="228600"/>
          </a:xfrm>
          <a:prstGeom prst="rect">
            <a:avLst/>
          </a:prstGeom>
          <a:solidFill>
            <a:srgbClr val="999999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48" name="Text 46"/>
          <p:cNvSpPr/>
          <p:nvPr/>
        </p:nvSpPr>
        <p:spPr>
          <a:xfrm>
            <a:off x="548640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Alçat (perfil)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28529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(vista superior)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03520" y="1051560"/>
            <a:ext cx="3584448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1" name="Text 49"/>
          <p:cNvSpPr/>
          <p:nvPr/>
        </p:nvSpPr>
        <p:spPr>
          <a:xfrm>
            <a:off x="5431536" y="113385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 fer el plànol a mà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431536" y="1499616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① Dibuixa la vista en planta (vista de dalt) del mòdul.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431536" y="2011680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② Dibuixa els forats hexagonals (Ø10mm, centres cada 13mm).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431536" y="2523744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③ Dibuixa l'alçat (vista frontal): gruix base 4mm + pota 3mm.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431536" y="2978658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④ Acota totes les dimensions. Escala 1:2.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431536" y="3462147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⑤ Afegeix el rètol: nom, grup, data, escala.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431536" y="4002786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⑥ Marca el connector en verd i el canal sensor en blau.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303520" y="4480560"/>
            <a:ext cx="3584448" cy="310896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59" name="Text 57"/>
          <p:cNvSpPr/>
          <p:nvPr/>
        </p:nvSpPr>
        <p:spPr>
          <a:xfrm>
            <a:off x="5394960" y="448056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⚠️  El plànol és el contracte amb tu mateix: si el disseny digital s'allunya massa, cal justificar el canvi.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60" name="Hexàgon 59">
            <a:extLst>
              <a:ext uri="{FF2B5EF4-FFF2-40B4-BE49-F238E27FC236}">
                <a16:creationId xmlns:a16="http://schemas.microsoft.com/office/drawing/2014/main" id="{DCD14A08-DE6E-96E3-7758-7F81818FB4C4}"/>
              </a:ext>
            </a:extLst>
          </p:cNvPr>
          <p:cNvSpPr/>
          <p:nvPr/>
        </p:nvSpPr>
        <p:spPr>
          <a:xfrm>
            <a:off x="2847720" y="1546099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61" name="Hexàgon 60">
            <a:extLst>
              <a:ext uri="{FF2B5EF4-FFF2-40B4-BE49-F238E27FC236}">
                <a16:creationId xmlns:a16="http://schemas.microsoft.com/office/drawing/2014/main" id="{63755498-3157-4E4A-FEEE-0EC535F422A9}"/>
              </a:ext>
            </a:extLst>
          </p:cNvPr>
          <p:cNvSpPr/>
          <p:nvPr/>
        </p:nvSpPr>
        <p:spPr>
          <a:xfrm>
            <a:off x="986408" y="1546099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62" name="Hexàgon 61">
            <a:extLst>
              <a:ext uri="{FF2B5EF4-FFF2-40B4-BE49-F238E27FC236}">
                <a16:creationId xmlns:a16="http://schemas.microsoft.com/office/drawing/2014/main" id="{33B8C472-3856-926C-B9C6-183B5DA9815F}"/>
              </a:ext>
            </a:extLst>
          </p:cNvPr>
          <p:cNvSpPr/>
          <p:nvPr/>
        </p:nvSpPr>
        <p:spPr>
          <a:xfrm>
            <a:off x="1455038" y="1546099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63" name="Hexàgon 62">
            <a:extLst>
              <a:ext uri="{FF2B5EF4-FFF2-40B4-BE49-F238E27FC236}">
                <a16:creationId xmlns:a16="http://schemas.microsoft.com/office/drawing/2014/main" id="{979244B6-7B1A-1AFA-C737-A794CC8429C0}"/>
              </a:ext>
            </a:extLst>
          </p:cNvPr>
          <p:cNvSpPr/>
          <p:nvPr/>
        </p:nvSpPr>
        <p:spPr>
          <a:xfrm>
            <a:off x="1907032" y="1546099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64" name="Hexàgon 63">
            <a:extLst>
              <a:ext uri="{FF2B5EF4-FFF2-40B4-BE49-F238E27FC236}">
                <a16:creationId xmlns:a16="http://schemas.microsoft.com/office/drawing/2014/main" id="{D11F5501-028C-30B6-0019-AD1A0FD0E807}"/>
              </a:ext>
            </a:extLst>
          </p:cNvPr>
          <p:cNvSpPr/>
          <p:nvPr/>
        </p:nvSpPr>
        <p:spPr>
          <a:xfrm>
            <a:off x="2375662" y="1546099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69" name="Hexàgon 68">
            <a:extLst>
              <a:ext uri="{FF2B5EF4-FFF2-40B4-BE49-F238E27FC236}">
                <a16:creationId xmlns:a16="http://schemas.microsoft.com/office/drawing/2014/main" id="{8AB37EE1-1A2A-5116-9CAC-0468CDCBC082}"/>
              </a:ext>
            </a:extLst>
          </p:cNvPr>
          <p:cNvSpPr/>
          <p:nvPr/>
        </p:nvSpPr>
        <p:spPr>
          <a:xfrm>
            <a:off x="3126867" y="1907542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0" name="Hexàgon 69">
            <a:extLst>
              <a:ext uri="{FF2B5EF4-FFF2-40B4-BE49-F238E27FC236}">
                <a16:creationId xmlns:a16="http://schemas.microsoft.com/office/drawing/2014/main" id="{D8B5485F-C680-FB96-B355-91F7124662EF}"/>
              </a:ext>
            </a:extLst>
          </p:cNvPr>
          <p:cNvSpPr/>
          <p:nvPr/>
        </p:nvSpPr>
        <p:spPr>
          <a:xfrm>
            <a:off x="1265555" y="1907542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1" name="Hexàgon 70">
            <a:extLst>
              <a:ext uri="{FF2B5EF4-FFF2-40B4-BE49-F238E27FC236}">
                <a16:creationId xmlns:a16="http://schemas.microsoft.com/office/drawing/2014/main" id="{B1C7B421-A32C-1A4F-F7C6-74ACF23CB6A5}"/>
              </a:ext>
            </a:extLst>
          </p:cNvPr>
          <p:cNvSpPr/>
          <p:nvPr/>
        </p:nvSpPr>
        <p:spPr>
          <a:xfrm>
            <a:off x="1734185" y="1907542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2" name="Hexàgon 71">
            <a:extLst>
              <a:ext uri="{FF2B5EF4-FFF2-40B4-BE49-F238E27FC236}">
                <a16:creationId xmlns:a16="http://schemas.microsoft.com/office/drawing/2014/main" id="{AC6B14AA-60A7-964E-CC9A-8F400C0720CB}"/>
              </a:ext>
            </a:extLst>
          </p:cNvPr>
          <p:cNvSpPr/>
          <p:nvPr/>
        </p:nvSpPr>
        <p:spPr>
          <a:xfrm>
            <a:off x="2186179" y="1907542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3" name="Hexàgon 72">
            <a:extLst>
              <a:ext uri="{FF2B5EF4-FFF2-40B4-BE49-F238E27FC236}">
                <a16:creationId xmlns:a16="http://schemas.microsoft.com/office/drawing/2014/main" id="{A90CC912-D4A8-673D-88CD-BDC7CF713B0E}"/>
              </a:ext>
            </a:extLst>
          </p:cNvPr>
          <p:cNvSpPr/>
          <p:nvPr/>
        </p:nvSpPr>
        <p:spPr>
          <a:xfrm>
            <a:off x="2654809" y="1907542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4" name="Hexàgon 73">
            <a:extLst>
              <a:ext uri="{FF2B5EF4-FFF2-40B4-BE49-F238E27FC236}">
                <a16:creationId xmlns:a16="http://schemas.microsoft.com/office/drawing/2014/main" id="{D21FB64B-B88A-1CBA-CD6E-45B38E43CF6F}"/>
              </a:ext>
            </a:extLst>
          </p:cNvPr>
          <p:cNvSpPr/>
          <p:nvPr/>
        </p:nvSpPr>
        <p:spPr>
          <a:xfrm>
            <a:off x="2885312" y="2268733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5" name="Hexàgon 74">
            <a:extLst>
              <a:ext uri="{FF2B5EF4-FFF2-40B4-BE49-F238E27FC236}">
                <a16:creationId xmlns:a16="http://schemas.microsoft.com/office/drawing/2014/main" id="{D5CBEF81-9D2D-96F2-CE85-97AD6D9D3F27}"/>
              </a:ext>
            </a:extLst>
          </p:cNvPr>
          <p:cNvSpPr/>
          <p:nvPr/>
        </p:nvSpPr>
        <p:spPr>
          <a:xfrm>
            <a:off x="1024000" y="2268733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6" name="Hexàgon 75">
            <a:extLst>
              <a:ext uri="{FF2B5EF4-FFF2-40B4-BE49-F238E27FC236}">
                <a16:creationId xmlns:a16="http://schemas.microsoft.com/office/drawing/2014/main" id="{D17458C0-A5C2-C861-0186-29C0CF54A713}"/>
              </a:ext>
            </a:extLst>
          </p:cNvPr>
          <p:cNvSpPr/>
          <p:nvPr/>
        </p:nvSpPr>
        <p:spPr>
          <a:xfrm>
            <a:off x="1492630" y="2268733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7" name="Hexàgon 76">
            <a:extLst>
              <a:ext uri="{FF2B5EF4-FFF2-40B4-BE49-F238E27FC236}">
                <a16:creationId xmlns:a16="http://schemas.microsoft.com/office/drawing/2014/main" id="{AD42A493-2385-AD65-56D7-A19E5EC6803B}"/>
              </a:ext>
            </a:extLst>
          </p:cNvPr>
          <p:cNvSpPr/>
          <p:nvPr/>
        </p:nvSpPr>
        <p:spPr>
          <a:xfrm>
            <a:off x="1944624" y="2268733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8" name="Hexàgon 77">
            <a:extLst>
              <a:ext uri="{FF2B5EF4-FFF2-40B4-BE49-F238E27FC236}">
                <a16:creationId xmlns:a16="http://schemas.microsoft.com/office/drawing/2014/main" id="{E0116524-6C45-B257-396D-2FB44237B2A5}"/>
              </a:ext>
            </a:extLst>
          </p:cNvPr>
          <p:cNvSpPr/>
          <p:nvPr/>
        </p:nvSpPr>
        <p:spPr>
          <a:xfrm>
            <a:off x="2413254" y="2268733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79" name="Hexàgon 78">
            <a:extLst>
              <a:ext uri="{FF2B5EF4-FFF2-40B4-BE49-F238E27FC236}">
                <a16:creationId xmlns:a16="http://schemas.microsoft.com/office/drawing/2014/main" id="{E6F924F8-E519-581B-BB14-51D88536128E}"/>
              </a:ext>
            </a:extLst>
          </p:cNvPr>
          <p:cNvSpPr/>
          <p:nvPr/>
        </p:nvSpPr>
        <p:spPr>
          <a:xfrm>
            <a:off x="739396" y="1907542"/>
            <a:ext cx="274320" cy="256030"/>
          </a:xfrm>
          <a:prstGeom prst="hexagon">
            <a:avLst/>
          </a:prstGeom>
          <a:solidFill>
            <a:srgbClr val="AAAAAA"/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S4-S5 — TinkerCAD: primeres passes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5303520" cy="3657600"/>
          </a:xfrm>
          <a:prstGeom prst="rect">
            <a:avLst/>
          </a:prstGeom>
          <a:solidFill>
            <a:srgbClr val="1C2B3A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5303520" cy="347472"/>
          </a:xfrm>
          <a:prstGeom prst="rect">
            <a:avLst/>
          </a:prstGeom>
          <a:solidFill>
            <a:srgbClr val="0E1A2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347472" y="1069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EF"/>
                </a:solidFill>
                <a:latin typeface="Aptos" panose="020B0004020202020204" pitchFamily="34" charset="0"/>
              </a:rPr>
              <a:t>TinkerCAD · Reixa_Grup01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19472" y="1399032"/>
            <a:ext cx="640080" cy="3310128"/>
          </a:xfrm>
          <a:prstGeom prst="rect">
            <a:avLst/>
          </a:prstGeom>
          <a:solidFill>
            <a:srgbClr val="0E1A27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Aptos" panose="020B0004020202020204" pitchFamily="34" charset="0"/>
              </a:rPr>
              <a:t>▣ Box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Aptos" panose="020B0004020202020204" pitchFamily="34" charset="0"/>
              </a:rPr>
              <a:t>⬤ Cylinder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Aptos" panose="020B0004020202020204" pitchFamily="34" charset="0"/>
              </a:rPr>
              <a:t>⬡ Polygon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Aptos" panose="020B0004020202020204" pitchFamily="34" charset="0"/>
              </a:rPr>
              <a:t>⊕ Text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32918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Aptos" panose="020B0004020202020204" pitchFamily="34" charset="0"/>
              </a:rPr>
              <a:t>⊗ Hole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286000"/>
            <a:ext cx="2926080" cy="1463040"/>
          </a:xfrm>
          <a:prstGeom prst="rect">
            <a:avLst/>
          </a:prstGeom>
          <a:solidFill>
            <a:srgbClr val="34566B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4" name="Shape 12"/>
          <p:cNvSpPr/>
          <p:nvPr/>
        </p:nvSpPr>
        <p:spPr>
          <a:xfrm>
            <a:off x="914400" y="1783080"/>
            <a:ext cx="2926080" cy="530352"/>
          </a:xfrm>
          <a:prstGeom prst="parallelogram">
            <a:avLst/>
          </a:prstGeom>
          <a:solidFill>
            <a:srgbClr val="4A7A8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804672" y="21762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6" name="Shape 14"/>
          <p:cNvSpPr/>
          <p:nvPr/>
        </p:nvSpPr>
        <p:spPr>
          <a:xfrm>
            <a:off x="3767328" y="21762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7" name="Shape 15"/>
          <p:cNvSpPr/>
          <p:nvPr/>
        </p:nvSpPr>
        <p:spPr>
          <a:xfrm>
            <a:off x="2286000" y="168249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8" name="Text 16"/>
          <p:cNvSpPr/>
          <p:nvPr/>
        </p:nvSpPr>
        <p:spPr>
          <a:xfrm>
            <a:off x="1645920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</a:rPr>
              <a:t>190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28416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</a:rPr>
              <a:t>90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A261"/>
                </a:solidFill>
              </a:rPr>
              <a:t>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3657600"/>
            <a:ext cx="4663440" cy="0"/>
          </a:xfrm>
          <a:prstGeom prst="line">
            <a:avLst/>
          </a:prstGeom>
          <a:noFill/>
          <a:ln w="6350">
            <a:solidFill>
              <a:srgbClr val="0077B6"/>
            </a:solidFill>
            <a:prstDash val="dash"/>
          </a:ln>
        </p:spPr>
        <p:txBody>
          <a:bodyPr/>
          <a:lstStyle/>
          <a:p>
            <a:endParaRPr lang="ca-ES"/>
          </a:p>
        </p:txBody>
      </p:sp>
      <p:sp>
        <p:nvSpPr>
          <p:cNvPr id="22" name="Shape 20"/>
          <p:cNvSpPr/>
          <p:nvPr/>
        </p:nvSpPr>
        <p:spPr>
          <a:xfrm>
            <a:off x="914400" y="1399032"/>
            <a:ext cx="0" cy="2258568"/>
          </a:xfrm>
          <a:prstGeom prst="line">
            <a:avLst/>
          </a:prstGeom>
          <a:noFill/>
          <a:ln w="6350">
            <a:solidFill>
              <a:srgbClr val="0077B6"/>
            </a:solidFill>
            <a:prstDash val="dash"/>
          </a:ln>
        </p:spPr>
        <p:txBody>
          <a:bodyPr/>
          <a:lstStyle/>
          <a:p>
            <a:endParaRPr lang="ca-ES"/>
          </a:p>
        </p:txBody>
      </p:sp>
      <p:sp>
        <p:nvSpPr>
          <p:cNvPr id="23" name="Shape 21"/>
          <p:cNvSpPr/>
          <p:nvPr/>
        </p:nvSpPr>
        <p:spPr>
          <a:xfrm>
            <a:off x="3822192" y="1399032"/>
            <a:ext cx="0" cy="2258568"/>
          </a:xfrm>
          <a:prstGeom prst="line">
            <a:avLst/>
          </a:prstGeom>
          <a:noFill/>
          <a:ln w="6350">
            <a:solidFill>
              <a:srgbClr val="0077B6"/>
            </a:solidFill>
            <a:prstDash val="dash"/>
          </a:ln>
        </p:spPr>
        <p:txBody>
          <a:bodyPr/>
          <a:lstStyle/>
          <a:p>
            <a:endParaRPr lang="ca-ES"/>
          </a:p>
        </p:txBody>
      </p:sp>
      <p:sp>
        <p:nvSpPr>
          <p:cNvPr id="24" name="Shape 22"/>
          <p:cNvSpPr/>
          <p:nvPr/>
        </p:nvSpPr>
        <p:spPr>
          <a:xfrm>
            <a:off x="5833872" y="1051560"/>
            <a:ext cx="3054096" cy="365760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5" name="Text 23"/>
          <p:cNvSpPr/>
          <p:nvPr/>
        </p:nvSpPr>
        <p:spPr>
          <a:xfrm>
            <a:off x="5961888" y="113385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Conceptes clau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61888" y="149961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Eixos X/Y/Z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61888" y="170992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X=amplada, Y=fondària, Z=alçada. Sempre visible a la cantonada.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61888" y="204825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Sòlid vs. Forat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61888" y="22585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'Hole' és el contrari d'una forma sòlida. Agrupa-les per restar.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61888" y="259689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Smart Duplicate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61888" y="280720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Ctrl+D per duplicar en posició; mou, torna Ctrl+D = patró.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61888" y="314553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Group/Ungroup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61888" y="335584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Ctrl+G per agrupar formes. Ctrl+Shift+G per desagrupar.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61888" y="369417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 STL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61888" y="390448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Arxiu STL: la 'llengua' que parla amb la impressora 3D.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S5-S6 — Forats hexagonals i patró de drenatge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1609344" cy="2377440"/>
          </a:xfrm>
          <a:prstGeom prst="rect">
            <a:avLst/>
          </a:prstGeom>
          <a:solidFill>
            <a:srgbClr val="13223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1609344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 sz="320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0896" y="10972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 1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2688" y="10972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Crea la base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1490472"/>
            <a:ext cx="14264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Cub (Box) → mides 190×90×4mm. Renombra: 'Base'.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93392" y="1051560"/>
            <a:ext cx="1609344" cy="2377440"/>
          </a:xfrm>
          <a:prstGeom prst="rect">
            <a:avLst/>
          </a:prstGeom>
          <a:solidFill>
            <a:srgbClr val="132235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1993392" y="1051560"/>
            <a:ext cx="1609344" cy="32918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 sz="32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48256" y="10972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 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87168" y="1097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Hexàgon forat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84832" y="1490472"/>
            <a:ext cx="14264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Polygon (6 costats) Ø10mm, alçada 6mm. Canvia-la a 'Hole' (transparent).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30752" y="1051560"/>
            <a:ext cx="1609344" cy="2377440"/>
          </a:xfrm>
          <a:prstGeom prst="rect">
            <a:avLst/>
          </a:prstGeom>
          <a:solidFill>
            <a:srgbClr val="132235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3730752" y="1051560"/>
            <a:ext cx="1609344" cy="329184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ca-ES" sz="32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85616" y="10972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 3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07408" y="10972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Posicionar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22192" y="1490472"/>
            <a:ext cx="14264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Col·loca el primer forat: X=13, Y=13, Z=-1 (per travessar completament).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68112" y="1051560"/>
            <a:ext cx="1609344" cy="2377440"/>
          </a:xfrm>
          <a:prstGeom prst="rect">
            <a:avLst/>
          </a:prstGeom>
          <a:solidFill>
            <a:srgbClr val="132235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5468112" y="1051560"/>
            <a:ext cx="1609344" cy="329184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 sz="32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22976" y="10972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 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44768" y="10972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Smart Duplicate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59552" y="1490472"/>
            <a:ext cx="14264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Ctrl+D → mou 13mm en X → Ctrl+D (×12). Repeteix per files en Y (+11,25mm).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05472" y="1051560"/>
            <a:ext cx="1609344" cy="2377440"/>
          </a:xfrm>
          <a:prstGeom prst="rect">
            <a:avLst/>
          </a:prstGeom>
          <a:solidFill>
            <a:srgbClr val="132235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5" name="Shape 23"/>
          <p:cNvSpPr/>
          <p:nvPr/>
        </p:nvSpPr>
        <p:spPr>
          <a:xfrm>
            <a:off x="7205472" y="1051560"/>
            <a:ext cx="1609344" cy="32918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ca-ES" sz="32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60336" y="10972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Pas 5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82128" y="10972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Agrupar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912" y="1490472"/>
            <a:ext cx="14264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Selecciona tot (Ctrl+A) → Ctrl+G. El boolean s'aplica: apareixen els forats!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6032" y="3566160"/>
            <a:ext cx="8631936" cy="131673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0" name="Text 28"/>
          <p:cNvSpPr/>
          <p:nvPr/>
        </p:nvSpPr>
        <p:spPr>
          <a:xfrm>
            <a:off x="384048" y="3639312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📐  Verificació: l'àrea de drenatge ha de ser &gt;40% de la superfície total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4048" y="3950208"/>
            <a:ext cx="8357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Càlcul: (nºforats × àrea_hexàgon) / (190 × 90) × 100  →  30 forats × 86,6mm² / 17.100mm² ≈ 15,2%  …  Alerta! Augmentar nº forats fins a &gt;40%. Revisar separació i </a:t>
            </a:r>
            <a:r>
              <a:rPr lang="en-US" sz="1100" dirty="0" err="1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mida</a:t>
            </a:r>
            <a:r>
              <a:rPr lang="en-US" sz="1100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0E8F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S7-S8 — Connector modular, personalització i exportació STL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042416"/>
            <a:ext cx="4114800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Text 3"/>
          <p:cNvSpPr/>
          <p:nvPr/>
        </p:nvSpPr>
        <p:spPr>
          <a:xfrm>
            <a:off x="384048" y="1133856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93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🔗  El connector macho-femella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64592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7" name="Shape 5"/>
          <p:cNvSpPr/>
          <p:nvPr/>
        </p:nvSpPr>
        <p:spPr>
          <a:xfrm>
            <a:off x="1847088" y="1700784"/>
            <a:ext cx="256032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8" name="Shape 6"/>
          <p:cNvSpPr/>
          <p:nvPr/>
        </p:nvSpPr>
        <p:spPr>
          <a:xfrm>
            <a:off x="2267712" y="1664208"/>
            <a:ext cx="292608" cy="457200"/>
          </a:xfrm>
          <a:prstGeom prst="rect">
            <a:avLst/>
          </a:prstGeom>
          <a:solidFill>
            <a:srgbClr val="334455"/>
          </a:solidFill>
          <a:ln w="12700">
            <a:solidFill>
              <a:srgbClr val="7CAFC2"/>
            </a:solidFill>
            <a:prstDash val="dash"/>
          </a:ln>
        </p:spPr>
        <p:txBody>
          <a:bodyPr/>
          <a:lstStyle/>
          <a:p>
            <a:endParaRPr lang="ca-ES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64592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anose="020B0004020202020204" pitchFamily="34" charset="0"/>
              </a:rPr>
              <a:t>Mòdul 1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0604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anose="020B0004020202020204" pitchFamily="34" charset="0"/>
              </a:rPr>
              <a:t>Mòdul 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83080" y="2331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Aptos" panose="020B0004020202020204" pitchFamily="34" charset="0"/>
              </a:rPr>
              <a:t>Tab: 5×3×2mm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Aptos" panose="020B0004020202020204" pitchFamily="34" charset="0"/>
              </a:rPr>
              <a:t>Ranura: 5.2×3×2mm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28346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El tab és sòlid i sobresurt del mòdul.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32552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La ranura és un 'Hole' de +0,2mm (tolerància).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4048" y="367588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Posició: centre dels costats curts.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4048" y="4096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→ Verificar amb peu de rei ANTES d'imprimir!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06240" cy="175564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9" name="Text 17"/>
          <p:cNvSpPr/>
          <p:nvPr/>
        </p:nvSpPr>
        <p:spPr>
          <a:xfrm>
            <a:off x="4791456" y="113385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✏️  Personalització: text en relleu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9744" y="1339215"/>
            <a:ext cx="39502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TinkerCAD → Formes bàsiques → 'Text' → escriu '4B-GrupX' → alçada 1mm (relleu positiu sobre la base) → Gruix 0,5mm → Posicionar sobre la base → Group (Ctrl+G).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4206240" cy="187452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2" name="Text 20"/>
          <p:cNvSpPr/>
          <p:nvPr/>
        </p:nvSpPr>
        <p:spPr>
          <a:xfrm>
            <a:off x="4791456" y="30266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📤  Exportació STL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91456" y="331012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 Clic a 'Export' (botó taronja a dalt a la dreta de TinkerCAD).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91456" y="358444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 Selecciona '.STL' — el format universal per a impressió 3D.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91456" y="385876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3. Desa l'arxiu com: 'Reixa_4B_Grup1.stl'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91456" y="413308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4. Obri el fitxer STL amb Ultimaker Cura.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91456" y="44074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5. Verifica que la peça apareix sense errors (cap triangle vermell).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A6B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S9-S10 — Laminat amb Ultimaker Cura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4187952" cy="113385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73152" cy="11338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Altura de capa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24912" y="1152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0,20 mm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Equilibri velocitat/qualitat. 0,1mm = més suau; 0,3mm = més ràpid.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0016" y="1078992"/>
            <a:ext cx="4187952" cy="113385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0" name="Shape 8"/>
          <p:cNvSpPr/>
          <p:nvPr/>
        </p:nvSpPr>
        <p:spPr>
          <a:xfrm>
            <a:off x="4700016" y="1078992"/>
            <a:ext cx="73152" cy="113385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9"/>
          <p:cNvSpPr/>
          <p:nvPr/>
        </p:nvSpPr>
        <p:spPr>
          <a:xfrm>
            <a:off x="4882896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Infill (farciment)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68896" y="1152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  Gyroid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2896" y="1499616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Prou resistent per a suportar el pes del substrat. Gyroid = isòtrop.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6032" y="2322576"/>
            <a:ext cx="4187952" cy="113385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256032" y="2322576"/>
            <a:ext cx="73152" cy="113385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6" name="Text 14"/>
          <p:cNvSpPr/>
          <p:nvPr/>
        </p:nvSpPr>
        <p:spPr>
          <a:xfrm>
            <a:off x="438912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Perímetre (walls)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24912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parets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2743200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Resistència perimetral. La reixa estarà en contacte amb l'humitat.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0016" y="2322576"/>
            <a:ext cx="4187952" cy="113385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0" name="Shape 18"/>
          <p:cNvSpPr/>
          <p:nvPr/>
        </p:nvSpPr>
        <p:spPr>
          <a:xfrm>
            <a:off x="4700016" y="2322576"/>
            <a:ext cx="73152" cy="113385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1" name="Text 19"/>
          <p:cNvSpPr/>
          <p:nvPr/>
        </p:nvSpPr>
        <p:spPr>
          <a:xfrm>
            <a:off x="4882896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Temperatura PLA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68896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205°C / 55°C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82896" y="2743200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Broqueta 205°C, llit escalfat 55°C. Ajustar ±5°C segons marca.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3566160"/>
            <a:ext cx="4187952" cy="113385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5" name="Shape 23"/>
          <p:cNvSpPr/>
          <p:nvPr/>
        </p:nvSpPr>
        <p:spPr>
          <a:xfrm>
            <a:off x="256032" y="3566160"/>
            <a:ext cx="73152" cy="113385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6" name="Text 24"/>
          <p:cNvSpPr/>
          <p:nvPr/>
        </p:nvSpPr>
        <p:spPr>
          <a:xfrm>
            <a:off x="438912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Velocitat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24912" y="36393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mm/s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398678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Velocitat moderada per a bona adhesió entre capes.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0016" y="3566160"/>
            <a:ext cx="4187952" cy="1133856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0" name="Shape 28"/>
          <p:cNvSpPr/>
          <p:nvPr/>
        </p:nvSpPr>
        <p:spPr>
          <a:xfrm>
            <a:off x="4700016" y="3566160"/>
            <a:ext cx="73152" cy="1133856"/>
          </a:xfrm>
          <a:prstGeom prst="rect">
            <a:avLst/>
          </a:prstGeom>
          <a:solidFill>
            <a:srgbClr val="7CAFC2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1" name="Text 29"/>
          <p:cNvSpPr/>
          <p:nvPr/>
        </p:nvSpPr>
        <p:spPr>
          <a:xfrm>
            <a:off x="4882896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Suports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68896" y="36393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(None)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82896" y="3986784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 reixa s'imprimeix sense suports si la plataforma és horitzontal.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56032" y="4572000"/>
            <a:ext cx="8631936" cy="38404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5" name="Text 33"/>
          <p:cNvSpPr/>
          <p:nvPr/>
        </p:nvSpPr>
        <p:spPr>
          <a:xfrm>
            <a:off x="365760" y="4572000"/>
            <a:ext cx="843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📊  Estimació Cura per mòdul: ~92g PLA · ~2h45min · ~1,38€  ·  ×4 mòduls = ~368g · ~11h · ~5,50€ per caixó complet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S11 — Impressió, monitoratge i post-processament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743200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743200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347472" y="1124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🖨️  Fase 1: Enviar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63677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Exportar G-code des de Cura.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2295144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Copiar al SD/USB de la impressora.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2953512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Verificar: filament carregat, llit net i calibrat.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4048" y="3611880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Seleccionar fitxer → Iniciar impressió.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63824" y="1051560"/>
            <a:ext cx="2743200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2" name="Shape 10"/>
          <p:cNvSpPr/>
          <p:nvPr/>
        </p:nvSpPr>
        <p:spPr>
          <a:xfrm>
            <a:off x="3163824" y="1051560"/>
            <a:ext cx="274320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3" name="Text 11"/>
          <p:cNvSpPr/>
          <p:nvPr/>
        </p:nvSpPr>
        <p:spPr>
          <a:xfrm>
            <a:off x="3255264" y="1124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👁️  Fase 2: Monitorar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163677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Primera capa: observar adhesió al llit.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40" y="2295144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Revisar cada 15-20 min (stringing, warping).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2953512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 s'aixeca un costat: aturar, repasar llit.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3611880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tocar la impressora mentre imprimeix.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71616" y="1051560"/>
            <a:ext cx="2743200" cy="3767328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9" name="Shape 17"/>
          <p:cNvSpPr/>
          <p:nvPr/>
        </p:nvSpPr>
        <p:spPr>
          <a:xfrm>
            <a:off x="6071616" y="1051560"/>
            <a:ext cx="2743200" cy="47548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0" name="Text 18"/>
          <p:cNvSpPr/>
          <p:nvPr/>
        </p:nvSpPr>
        <p:spPr>
          <a:xfrm>
            <a:off x="6163056" y="1124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🔧  Fase 3: Post-proc.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99632" y="163677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Deixar refredar 5 min al llit (retracció).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99632" y="2295144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Extreure amb espàtula suaument.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99632" y="2953512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Eliminar baves: llima fina gra 240.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99632" y="3611880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Mesurar amb peu de rei (3 dimensions).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" y="4919472"/>
            <a:ext cx="8631936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Materials: el PLA i la sostenibilitat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297680" cy="379476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297680" cy="438912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347472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Àcid Polilàctic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Origen: midó de blat de moro o canya de sucre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212140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Temperatura: 190-220°C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4048" y="259689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Biodegradable en condicions industrials (compost 60°C)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307238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Ideal per a principiants: no necessita enclosure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354787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Resistència temperatura ambient: fins a 60°C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402336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Cost: ~15-20€/kg (1.000g aprox.)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28032" y="1097280"/>
            <a:ext cx="4297680" cy="3794760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Shape 13"/>
          <p:cNvSpPr/>
          <p:nvPr/>
        </p:nvSpPr>
        <p:spPr>
          <a:xfrm>
            <a:off x="4828032" y="1097280"/>
            <a:ext cx="4297680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6" name="Text 14"/>
          <p:cNvSpPr/>
          <p:nvPr/>
        </p:nvSpPr>
        <p:spPr>
          <a:xfrm>
            <a:off x="4919472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08192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Polyethylene Terephthalate Glycol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56048" y="164592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Més resistent a la humitat que el PLA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56048" y="212140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Temperatura: 230-250°C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56048" y="259689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No biodegradable però 100% reciclable (#1)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56048" y="307238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Recomanat per a peces en contacte amb l'aigua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56048" y="354787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Resistència temperatura: fins a 80°C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56048" y="402336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Cost: ~18-25€/kg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4919472"/>
            <a:ext cx="8631936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ca-ES"/>
          </a:p>
        </p:txBody>
      </p:sp>
      <p:sp>
        <p:nvSpPr>
          <p:cNvPr id="25" name="Text 23"/>
          <p:cNvSpPr/>
          <p:nvPr/>
        </p:nvSpPr>
        <p:spPr>
          <a:xfrm>
            <a:off x="237744" y="4833747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B78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💡  Per a l'hort escolar: el PLA és l'opció recomanada. Funcional, de baix cost i de menor impacte ambiental que qualsevol plàstic de petroli.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Criteris d'avaluació i pesos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706624" cy="1719072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73152" cy="17190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6" name="Text 4"/>
          <p:cNvSpPr/>
          <p:nvPr/>
        </p:nvSpPr>
        <p:spPr>
          <a:xfrm>
            <a:off x="420624" y="1170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704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 3D TinkerCAD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0624" y="164592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Dimensions correctes (±0,5mm plànol)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0624" y="19019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Patró &gt;40% àrea drenatge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Connector funcional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" y="2414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STL exportat sense errors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36392" y="1078992"/>
            <a:ext cx="2706624" cy="1719072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Shape 11"/>
          <p:cNvSpPr/>
          <p:nvPr/>
        </p:nvSpPr>
        <p:spPr>
          <a:xfrm>
            <a:off x="3136392" y="1078992"/>
            <a:ext cx="73152" cy="17190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4" name="Text 12"/>
          <p:cNvSpPr/>
          <p:nvPr/>
        </p:nvSpPr>
        <p:spPr>
          <a:xfrm>
            <a:off x="3300984" y="1170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11704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Impressió i resultat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00984" y="1645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Paràmetres Cura correctes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00984" y="19019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Peça impresa funcional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00984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Mesures reals ±0,5mm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00984" y="2414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Post-processament net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16752" y="1078992"/>
            <a:ext cx="2706624" cy="1719072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1" name="Shape 19"/>
          <p:cNvSpPr/>
          <p:nvPr/>
        </p:nvSpPr>
        <p:spPr>
          <a:xfrm>
            <a:off x="6016752" y="1078992"/>
            <a:ext cx="73152" cy="1719072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2" name="Text 20"/>
          <p:cNvSpPr/>
          <p:nvPr/>
        </p:nvSpPr>
        <p:spPr>
          <a:xfrm>
            <a:off x="6181344" y="1170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11704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Plànol a mà alçada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81344" y="1645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3 vistes acotades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81344" y="19019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Escala 1:2 indicada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81344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Cotes completes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81344" y="2414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Rètol normalitzat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6032" y="2944368"/>
            <a:ext cx="2706624" cy="1719072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29" name="Shape 27"/>
          <p:cNvSpPr/>
          <p:nvPr/>
        </p:nvSpPr>
        <p:spPr>
          <a:xfrm>
            <a:off x="256032" y="2944368"/>
            <a:ext cx="73152" cy="171907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0" name="Text 28"/>
          <p:cNvSpPr/>
          <p:nvPr/>
        </p:nvSpPr>
        <p:spPr>
          <a:xfrm>
            <a:off x="42062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303580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Memòria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tècnica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0624" y="351129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Captures TinkerCAD comentades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20624" y="37673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Captures Cura + paràmetres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20624" y="402336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Comparació disseny vs. imprès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20624" y="42793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Millora proposada i raonada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136392" y="2944368"/>
            <a:ext cx="2706624" cy="1719072"/>
          </a:xfrm>
          <a:prstGeom prst="rect">
            <a:avLst/>
          </a:prstGeom>
          <a:solidFill>
            <a:srgbClr val="132235"/>
          </a:solidFill>
          <a:ln/>
          <a:effectLst>
            <a:outerShdw blurRad="127000" dist="50800" dir="8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7" name="Shape 35"/>
          <p:cNvSpPr/>
          <p:nvPr/>
        </p:nvSpPr>
        <p:spPr>
          <a:xfrm>
            <a:off x="3136392" y="2944368"/>
            <a:ext cx="73152" cy="17190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38" name="Text 36"/>
          <p:cNvSpPr/>
          <p:nvPr/>
        </p:nvSpPr>
        <p:spPr>
          <a:xfrm>
            <a:off x="330098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160520" y="303580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Presentació +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actitud</a:t>
            </a:r>
            <a:endParaRPr lang="en-US" sz="1200" b="1" dirty="0">
              <a:solidFill>
                <a:srgbClr val="FFFFFF"/>
              </a:solidFill>
              <a:latin typeface="Aptos" panose="020B0004020202020204" pitchFamily="34" charset="0"/>
              <a:cs typeface="Calibri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300984" y="351129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Presentació oral clara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300984" y="37673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Treball autònom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300984" y="402336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Curiositat i proactivitat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300984" y="42793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Respecte al maquinari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45" name="Text 43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💡  La memòria tècnica és obligatòria. El STL exportat s'ha de lliurar juntament amb la memòria.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8" name="Shape 6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9" name="Text 7"/>
          <p:cNvSpPr/>
          <p:nvPr/>
        </p:nvSpPr>
        <p:spPr>
          <a:xfrm>
            <a:off x="384048" y="8229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Dissenyeu,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15681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imprimiu,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84048" y="23134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itereu.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84048" y="3017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 primera versió mai és la definitiva.</a:t>
            </a:r>
            <a:endParaRPr lang="en-US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7CAFC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 millora és el veritable aprenentatge.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12080" y="822960"/>
            <a:ext cx="3566160" cy="548640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4" name="Text 12"/>
          <p:cNvSpPr/>
          <p:nvPr/>
        </p:nvSpPr>
        <p:spPr>
          <a:xfrm>
            <a:off x="5340096" y="822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 Plànol a mà alçada complet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212080" y="1481328"/>
            <a:ext cx="3566160" cy="548640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6" name="Text 14"/>
          <p:cNvSpPr/>
          <p:nvPr/>
        </p:nvSpPr>
        <p:spPr>
          <a:xfrm>
            <a:off x="5340096" y="14813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 Model 3D TinkerCAD acabat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12080" y="2139696"/>
            <a:ext cx="3566160" cy="548640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Text 16"/>
          <p:cNvSpPr/>
          <p:nvPr/>
        </p:nvSpPr>
        <p:spPr>
          <a:xfrm>
            <a:off x="5340096" y="21396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 STL exportat i laminat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12080" y="2798064"/>
            <a:ext cx="3566160" cy="548640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Text 18"/>
          <p:cNvSpPr/>
          <p:nvPr/>
        </p:nvSpPr>
        <p:spPr>
          <a:xfrm>
            <a:off x="5340096" y="27980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 Peça impresa i verificada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212080" y="3456432"/>
            <a:ext cx="3566160" cy="548640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2" name="Text 20"/>
          <p:cNvSpPr/>
          <p:nvPr/>
        </p:nvSpPr>
        <p:spPr>
          <a:xfrm>
            <a:off x="5340096" y="3456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 Reixa instal·lada al caixó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12080" y="4114800"/>
            <a:ext cx="3566160" cy="548640"/>
          </a:xfrm>
          <a:prstGeom prst="rect">
            <a:avLst/>
          </a:prstGeom>
          <a:solidFill>
            <a:srgbClr val="132235"/>
          </a:solidFill>
          <a:ln w="1016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Text 22"/>
          <p:cNvSpPr/>
          <p:nvPr/>
        </p:nvSpPr>
        <p:spPr>
          <a:xfrm>
            <a:off x="5340096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 Memòria tècnica lliurada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27" name="Hexàgon 26">
            <a:extLst>
              <a:ext uri="{FF2B5EF4-FFF2-40B4-BE49-F238E27FC236}">
                <a16:creationId xmlns:a16="http://schemas.microsoft.com/office/drawing/2014/main" id="{540021B8-043D-16E9-E823-713C44E7B894}"/>
              </a:ext>
            </a:extLst>
          </p:cNvPr>
          <p:cNvSpPr/>
          <p:nvPr/>
        </p:nvSpPr>
        <p:spPr>
          <a:xfrm>
            <a:off x="3104387" y="2438781"/>
            <a:ext cx="1028701" cy="914400"/>
          </a:xfrm>
          <a:prstGeom prst="hexagon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28" name="Hexàgon 27">
            <a:extLst>
              <a:ext uri="{FF2B5EF4-FFF2-40B4-BE49-F238E27FC236}">
                <a16:creationId xmlns:a16="http://schemas.microsoft.com/office/drawing/2014/main" id="{12CD2AD3-5350-FF36-593E-4F6F672ACFA8}"/>
              </a:ext>
            </a:extLst>
          </p:cNvPr>
          <p:cNvSpPr/>
          <p:nvPr/>
        </p:nvSpPr>
        <p:spPr>
          <a:xfrm>
            <a:off x="3256787" y="2591181"/>
            <a:ext cx="1028701" cy="914400"/>
          </a:xfrm>
          <a:prstGeom prst="hexagon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29" name="Hexàgon 28">
            <a:extLst>
              <a:ext uri="{FF2B5EF4-FFF2-40B4-BE49-F238E27FC236}">
                <a16:creationId xmlns:a16="http://schemas.microsoft.com/office/drawing/2014/main" id="{594E7BFE-5195-C4E8-FE93-FD06CC4C7650}"/>
              </a:ext>
            </a:extLst>
          </p:cNvPr>
          <p:cNvSpPr/>
          <p:nvPr/>
        </p:nvSpPr>
        <p:spPr>
          <a:xfrm>
            <a:off x="3409187" y="2743581"/>
            <a:ext cx="1028701" cy="914400"/>
          </a:xfrm>
          <a:prstGeom prst="hexagon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30" name="Hexàgon 29">
            <a:extLst>
              <a:ext uri="{FF2B5EF4-FFF2-40B4-BE49-F238E27FC236}">
                <a16:creationId xmlns:a16="http://schemas.microsoft.com/office/drawing/2014/main" id="{D0A4BAC4-CE70-386F-F7B2-D76B09F8CA21}"/>
              </a:ext>
            </a:extLst>
          </p:cNvPr>
          <p:cNvSpPr/>
          <p:nvPr/>
        </p:nvSpPr>
        <p:spPr>
          <a:xfrm>
            <a:off x="3561587" y="2895981"/>
            <a:ext cx="1028701" cy="914400"/>
          </a:xfrm>
          <a:prstGeom prst="hexagon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31" name="Hexàgon 30">
            <a:extLst>
              <a:ext uri="{FF2B5EF4-FFF2-40B4-BE49-F238E27FC236}">
                <a16:creationId xmlns:a16="http://schemas.microsoft.com/office/drawing/2014/main" id="{3E7C4F24-73CF-C65A-7907-BACF3F51A24C}"/>
              </a:ext>
            </a:extLst>
          </p:cNvPr>
          <p:cNvSpPr/>
          <p:nvPr/>
        </p:nvSpPr>
        <p:spPr>
          <a:xfrm>
            <a:off x="3713987" y="3048381"/>
            <a:ext cx="1028701" cy="914400"/>
          </a:xfrm>
          <a:prstGeom prst="hexagon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F0F8"/>
                </a:solidFill>
                <a:latin typeface="Aptos" panose="020B0004020202020204" pitchFamily="34" charset="0"/>
              </a:rPr>
              <a:t>Departament de Tecnologia  ·  Tecnologia 4t ESO  ·  Comunitat Valenciana  ·  Curs 2025-2026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1686</Words>
  <Application>Microsoft Office PowerPoint</Application>
  <PresentationFormat>Presentació en pantalla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Georgia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Disseny 3D i Impressió 3D — Reixes de Drenatge</dc:title>
  <dc:subject>PptxGenJS Presentation</dc:subject>
  <dc:creator>Departament de Tecnologia</dc:creator>
  <cp:lastModifiedBy>Jesus Pineda Escriva</cp:lastModifiedBy>
  <cp:revision>9</cp:revision>
  <dcterms:created xsi:type="dcterms:W3CDTF">2026-05-25T05:57:14Z</dcterms:created>
  <dcterms:modified xsi:type="dcterms:W3CDTF">2026-05-26T06:43:03Z</dcterms:modified>
</cp:coreProperties>
</file>